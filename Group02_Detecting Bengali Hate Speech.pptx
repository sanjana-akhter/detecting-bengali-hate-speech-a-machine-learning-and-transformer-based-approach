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9" r:id="rId4"/>
    <p:sldId id="263" r:id="rId5"/>
    <p:sldId id="280" r:id="rId6"/>
    <p:sldId id="275" r:id="rId7"/>
    <p:sldId id="274" r:id="rId8"/>
    <p:sldId id="276" r:id="rId9"/>
    <p:sldId id="278" r:id="rId10"/>
    <p:sldId id="281" r:id="rId11"/>
    <p:sldId id="282" r:id="rId12"/>
    <p:sldId id="273" r:id="rId13"/>
    <p:sldId id="272" r:id="rId14"/>
    <p:sldId id="277" r:id="rId15"/>
    <p:sldId id="269" r:id="rId16"/>
    <p:sldId id="270" r:id="rId17"/>
  </p:sldIdLst>
  <p:sldSz cx="18288000" cy="10287000"/>
  <p:notesSz cx="6858000" cy="9144000"/>
  <p:embeddedFontLst>
    <p:embeddedFont>
      <p:font typeface="Calibri" panose="020F0502020204030204" pitchFamily="34" charset="0"/>
      <p:regular r:id="rId19"/>
      <p:bold r:id="rId20"/>
      <p:italic r:id="rId21"/>
      <p:boldItalic r:id="rId22"/>
    </p:embeddedFont>
    <p:embeddedFont>
      <p:font typeface="League Spartan" panose="020B0604020202020204" charset="0"/>
      <p:regular r:id="rId23"/>
    </p:embeddedFont>
    <p:embeddedFont>
      <p:font typeface="Open Sans" panose="020B0604020202020204" charset="0"/>
      <p:regular r:id="rId24"/>
      <p:bold r:id="rId25"/>
      <p:italic r:id="rId26"/>
      <p:boldItalic r:id="rId27"/>
    </p:embeddedFont>
    <p:embeddedFont>
      <p:font typeface="Open Sans Bold" panose="020B0604020202020204" charset="0"/>
      <p:regular r:id="rId28"/>
      <p:bold r:id="rId29"/>
    </p:embeddedFont>
    <p:embeddedFont>
      <p:font typeface="Open Sans Extrabold" panose="020B0604020202020204" charset="0"/>
      <p:bold r:id="rId30"/>
      <p:boldItalic r:id="rId31"/>
    </p:embeddedFont>
    <p:embeddedFont>
      <p:font typeface="Poppins" panose="020B0604020202020204" charset="0"/>
      <p:regular r:id="rId32"/>
      <p:bold r:id="rId33"/>
      <p:italic r:id="rId34"/>
      <p:boldItalic r:id="rId35"/>
    </p:embeddedFont>
    <p:embeddedFont>
      <p:font typeface="Segoe UI Black" panose="020B0A02040204020203" pitchFamily="34" charset="0"/>
      <p:bold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33" autoAdjust="0"/>
    <p:restoredTop sz="94622" autoAdjust="0"/>
  </p:normalViewPr>
  <p:slideViewPr>
    <p:cSldViewPr>
      <p:cViewPr varScale="1">
        <p:scale>
          <a:sx n="57" d="100"/>
          <a:sy n="57" d="100"/>
        </p:scale>
        <p:origin x="756"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02DFBB-C9FF-44D3-995B-E38B3EB3CF90}" type="datetimeFigureOut">
              <a:rPr lang="en-US" smtClean="0"/>
              <a:t>3/11/2025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9E364-9C36-4EC7-AD7E-9BA996AD7B77}" type="slidenum">
              <a:rPr lang="en-US" smtClean="0"/>
              <a:t>‹#›</a:t>
            </a:fld>
            <a:endParaRPr lang="en-US"/>
          </a:p>
        </p:txBody>
      </p:sp>
    </p:spTree>
    <p:extLst>
      <p:ext uri="{BB962C8B-B14F-4D97-AF65-F5344CB8AC3E}">
        <p14:creationId xmlns:p14="http://schemas.microsoft.com/office/powerpoint/2010/main" val="632234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9E364-9C36-4EC7-AD7E-9BA996AD7B77}" type="slidenum">
              <a:rPr lang="en-US" smtClean="0"/>
              <a:t>4</a:t>
            </a:fld>
            <a:endParaRPr lang="en-US"/>
          </a:p>
        </p:txBody>
      </p:sp>
    </p:spTree>
    <p:extLst>
      <p:ext uri="{BB962C8B-B14F-4D97-AF65-F5344CB8AC3E}">
        <p14:creationId xmlns:p14="http://schemas.microsoft.com/office/powerpoint/2010/main" val="309379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7DDF6-9D04-6799-1D79-D01B103F7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6F823-67C5-B10E-9F92-BD3230D71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D6874-C19B-C8A4-3F90-1A67BFEA45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DC0B56-7721-1B9F-2654-84A4B9ED2154}"/>
              </a:ext>
            </a:extLst>
          </p:cNvPr>
          <p:cNvSpPr>
            <a:spLocks noGrp="1"/>
          </p:cNvSpPr>
          <p:nvPr>
            <p:ph type="sldNum" sz="quarter" idx="5"/>
          </p:nvPr>
        </p:nvSpPr>
        <p:spPr/>
        <p:txBody>
          <a:bodyPr/>
          <a:lstStyle/>
          <a:p>
            <a:fld id="{0799E364-9C36-4EC7-AD7E-9BA996AD7B77}" type="slidenum">
              <a:rPr lang="en-US" smtClean="0"/>
              <a:t>5</a:t>
            </a:fld>
            <a:endParaRPr lang="en-US"/>
          </a:p>
        </p:txBody>
      </p:sp>
    </p:spTree>
    <p:extLst>
      <p:ext uri="{BB962C8B-B14F-4D97-AF65-F5344CB8AC3E}">
        <p14:creationId xmlns:p14="http://schemas.microsoft.com/office/powerpoint/2010/main" val="3775678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1C3F2-A33C-AF28-DA4F-F1BD899AC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75591-D0E2-9227-BEB9-C2D6A8FC0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9AE5C5-F15B-9AE2-F6D6-D090C01770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BFD098-2232-52CE-1F6D-4C4182182784}"/>
              </a:ext>
            </a:extLst>
          </p:cNvPr>
          <p:cNvSpPr>
            <a:spLocks noGrp="1"/>
          </p:cNvSpPr>
          <p:nvPr>
            <p:ph type="sldNum" sz="quarter" idx="5"/>
          </p:nvPr>
        </p:nvSpPr>
        <p:spPr/>
        <p:txBody>
          <a:bodyPr/>
          <a:lstStyle/>
          <a:p>
            <a:fld id="{0799E364-9C36-4EC7-AD7E-9BA996AD7B77}" type="slidenum">
              <a:rPr lang="en-US" smtClean="0"/>
              <a:t>6</a:t>
            </a:fld>
            <a:endParaRPr lang="en-US"/>
          </a:p>
        </p:txBody>
      </p:sp>
    </p:spTree>
    <p:extLst>
      <p:ext uri="{BB962C8B-B14F-4D97-AF65-F5344CB8AC3E}">
        <p14:creationId xmlns:p14="http://schemas.microsoft.com/office/powerpoint/2010/main" val="3556617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C5458-908B-B63C-B3EB-F5E946786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00CED-DF1F-4CC2-94C4-8451DBD951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12108-77A3-58D2-DD9E-987BFDE46F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93F325-8CE2-F589-135C-A326723CAEA5}"/>
              </a:ext>
            </a:extLst>
          </p:cNvPr>
          <p:cNvSpPr>
            <a:spLocks noGrp="1"/>
          </p:cNvSpPr>
          <p:nvPr>
            <p:ph type="sldNum" sz="quarter" idx="5"/>
          </p:nvPr>
        </p:nvSpPr>
        <p:spPr/>
        <p:txBody>
          <a:bodyPr/>
          <a:lstStyle/>
          <a:p>
            <a:fld id="{0799E364-9C36-4EC7-AD7E-9BA996AD7B77}" type="slidenum">
              <a:rPr lang="en-US" smtClean="0"/>
              <a:t>7</a:t>
            </a:fld>
            <a:endParaRPr lang="en-US"/>
          </a:p>
        </p:txBody>
      </p:sp>
    </p:spTree>
    <p:extLst>
      <p:ext uri="{BB962C8B-B14F-4D97-AF65-F5344CB8AC3E}">
        <p14:creationId xmlns:p14="http://schemas.microsoft.com/office/powerpoint/2010/main" val="1756216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09A39-2AF7-E001-880C-D5F5A7979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FA20A-2734-8739-A24D-FD1951EA17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1F297F-E480-EB01-73BD-88BA752159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5EC327-012D-BD8F-6168-1A3CA778C9B5}"/>
              </a:ext>
            </a:extLst>
          </p:cNvPr>
          <p:cNvSpPr>
            <a:spLocks noGrp="1"/>
          </p:cNvSpPr>
          <p:nvPr>
            <p:ph type="sldNum" sz="quarter" idx="5"/>
          </p:nvPr>
        </p:nvSpPr>
        <p:spPr/>
        <p:txBody>
          <a:bodyPr/>
          <a:lstStyle/>
          <a:p>
            <a:fld id="{0799E364-9C36-4EC7-AD7E-9BA996AD7B77}" type="slidenum">
              <a:rPr lang="en-US" smtClean="0"/>
              <a:t>8</a:t>
            </a:fld>
            <a:endParaRPr lang="en-US"/>
          </a:p>
        </p:txBody>
      </p:sp>
    </p:spTree>
    <p:extLst>
      <p:ext uri="{BB962C8B-B14F-4D97-AF65-F5344CB8AC3E}">
        <p14:creationId xmlns:p14="http://schemas.microsoft.com/office/powerpoint/2010/main" val="1221546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FAE06-AB1A-9802-BDBF-ED2ED8E75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7130B-8C72-0A3D-2767-DBB855FE52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F818F-6A14-3EDE-69F5-0637061AF3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2DDE13-50BD-787B-24EF-5672158AE421}"/>
              </a:ext>
            </a:extLst>
          </p:cNvPr>
          <p:cNvSpPr>
            <a:spLocks noGrp="1"/>
          </p:cNvSpPr>
          <p:nvPr>
            <p:ph type="sldNum" sz="quarter" idx="5"/>
          </p:nvPr>
        </p:nvSpPr>
        <p:spPr/>
        <p:txBody>
          <a:bodyPr/>
          <a:lstStyle/>
          <a:p>
            <a:fld id="{0799E364-9C36-4EC7-AD7E-9BA996AD7B77}" type="slidenum">
              <a:rPr lang="en-US" smtClean="0"/>
              <a:t>9</a:t>
            </a:fld>
            <a:endParaRPr lang="en-US"/>
          </a:p>
        </p:txBody>
      </p:sp>
    </p:spTree>
    <p:extLst>
      <p:ext uri="{BB962C8B-B14F-4D97-AF65-F5344CB8AC3E}">
        <p14:creationId xmlns:p14="http://schemas.microsoft.com/office/powerpoint/2010/main" val="3982399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8FE3C-1E44-0C0B-71F6-A49679810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6B805-B837-AFCE-C5AF-836BD5E4E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F78412-D049-4D82-6504-6F41BC1DB9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48C17B-6E62-0FBA-D275-66C82EE893AE}"/>
              </a:ext>
            </a:extLst>
          </p:cNvPr>
          <p:cNvSpPr>
            <a:spLocks noGrp="1"/>
          </p:cNvSpPr>
          <p:nvPr>
            <p:ph type="sldNum" sz="quarter" idx="5"/>
          </p:nvPr>
        </p:nvSpPr>
        <p:spPr/>
        <p:txBody>
          <a:bodyPr/>
          <a:lstStyle/>
          <a:p>
            <a:fld id="{0799E364-9C36-4EC7-AD7E-9BA996AD7B77}" type="slidenum">
              <a:rPr lang="en-US" smtClean="0"/>
              <a:t>10</a:t>
            </a:fld>
            <a:endParaRPr lang="en-US"/>
          </a:p>
        </p:txBody>
      </p:sp>
    </p:spTree>
    <p:extLst>
      <p:ext uri="{BB962C8B-B14F-4D97-AF65-F5344CB8AC3E}">
        <p14:creationId xmlns:p14="http://schemas.microsoft.com/office/powerpoint/2010/main" val="2306826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FFAF8-AAA3-6DBE-517B-CA3DEC816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F4BAB-F686-9BA9-86BE-A7DBD54BC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444CA-8CCD-B895-9D2E-A137145AF1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7E488-FAF6-0B4D-18BD-8E02B2ACB6EF}"/>
              </a:ext>
            </a:extLst>
          </p:cNvPr>
          <p:cNvSpPr>
            <a:spLocks noGrp="1"/>
          </p:cNvSpPr>
          <p:nvPr>
            <p:ph type="sldNum" sz="quarter" idx="5"/>
          </p:nvPr>
        </p:nvSpPr>
        <p:spPr/>
        <p:txBody>
          <a:bodyPr/>
          <a:lstStyle/>
          <a:p>
            <a:fld id="{0799E364-9C36-4EC7-AD7E-9BA996AD7B77}" type="slidenum">
              <a:rPr lang="en-US" smtClean="0"/>
              <a:t>11</a:t>
            </a:fld>
            <a:endParaRPr lang="en-US"/>
          </a:p>
        </p:txBody>
      </p:sp>
    </p:spTree>
    <p:extLst>
      <p:ext uri="{BB962C8B-B14F-4D97-AF65-F5344CB8AC3E}">
        <p14:creationId xmlns:p14="http://schemas.microsoft.com/office/powerpoint/2010/main" val="1672795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FFAF8-AAA3-6DBE-517B-CA3DEC816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DF4BAB-F686-9BA9-86BE-A7DBD54BC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444CA-8CCD-B895-9D2E-A137145AF1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7E488-FAF6-0B4D-18BD-8E02B2ACB6EF}"/>
              </a:ext>
            </a:extLst>
          </p:cNvPr>
          <p:cNvSpPr>
            <a:spLocks noGrp="1"/>
          </p:cNvSpPr>
          <p:nvPr>
            <p:ph type="sldNum" sz="quarter" idx="5"/>
          </p:nvPr>
        </p:nvSpPr>
        <p:spPr/>
        <p:txBody>
          <a:bodyPr/>
          <a:lstStyle/>
          <a:p>
            <a:fld id="{0799E364-9C36-4EC7-AD7E-9BA996AD7B77}" type="slidenum">
              <a:rPr lang="en-US" smtClean="0"/>
              <a:t>12</a:t>
            </a:fld>
            <a:endParaRPr lang="en-US"/>
          </a:p>
        </p:txBody>
      </p:sp>
    </p:spTree>
    <p:extLst>
      <p:ext uri="{BB962C8B-B14F-4D97-AF65-F5344CB8AC3E}">
        <p14:creationId xmlns:p14="http://schemas.microsoft.com/office/powerpoint/2010/main" val="1672795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6E840-3425-CA92-A9F3-0F1086230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7E941-6795-2979-0F92-A587A72F9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1F7EA-AC0F-257F-25E3-7F602F38F2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849F4F-4693-DD4B-86A5-77180F0000A4}"/>
              </a:ext>
            </a:extLst>
          </p:cNvPr>
          <p:cNvSpPr>
            <a:spLocks noGrp="1"/>
          </p:cNvSpPr>
          <p:nvPr>
            <p:ph type="sldNum" sz="quarter" idx="5"/>
          </p:nvPr>
        </p:nvSpPr>
        <p:spPr/>
        <p:txBody>
          <a:bodyPr/>
          <a:lstStyle/>
          <a:p>
            <a:fld id="{0799E364-9C36-4EC7-AD7E-9BA996AD7B77}" type="slidenum">
              <a:rPr lang="en-US" smtClean="0"/>
              <a:t>13</a:t>
            </a:fld>
            <a:endParaRPr lang="en-US"/>
          </a:p>
        </p:txBody>
      </p:sp>
    </p:spTree>
    <p:extLst>
      <p:ext uri="{BB962C8B-B14F-4D97-AF65-F5344CB8AC3E}">
        <p14:creationId xmlns:p14="http://schemas.microsoft.com/office/powerpoint/2010/main" val="1046685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E8E6C-0179-0EE0-7B0B-D84F60CA2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96224-8C9D-656D-337B-21342EF2AA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A6CC6-6DE2-6152-FD6D-A4762C24E0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8C3991-5A4E-2D29-1148-BE77B08CCA69}"/>
              </a:ext>
            </a:extLst>
          </p:cNvPr>
          <p:cNvSpPr>
            <a:spLocks noGrp="1"/>
          </p:cNvSpPr>
          <p:nvPr>
            <p:ph type="sldNum" sz="quarter" idx="5"/>
          </p:nvPr>
        </p:nvSpPr>
        <p:spPr/>
        <p:txBody>
          <a:bodyPr/>
          <a:lstStyle/>
          <a:p>
            <a:fld id="{0799E364-9C36-4EC7-AD7E-9BA996AD7B77}" type="slidenum">
              <a:rPr lang="en-US" smtClean="0"/>
              <a:t>14</a:t>
            </a:fld>
            <a:endParaRPr lang="en-US"/>
          </a:p>
        </p:txBody>
      </p:sp>
    </p:spTree>
    <p:extLst>
      <p:ext uri="{BB962C8B-B14F-4D97-AF65-F5344CB8AC3E}">
        <p14:creationId xmlns:p14="http://schemas.microsoft.com/office/powerpoint/2010/main" val="3487722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jp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flipH="1" flipV="1">
            <a:off x="12755300" y="567698"/>
            <a:ext cx="5062925" cy="6212178"/>
          </a:xfrm>
          <a:custGeom>
            <a:avLst/>
            <a:gdLst/>
            <a:ahLst/>
            <a:cxnLst/>
            <a:rect l="l" t="t" r="r" b="b"/>
            <a:pathLst>
              <a:path w="5062925" h="6212178">
                <a:moveTo>
                  <a:pt x="5062925" y="6212178"/>
                </a:moveTo>
                <a:lnTo>
                  <a:pt x="0" y="6212178"/>
                </a:lnTo>
                <a:lnTo>
                  <a:pt x="0" y="0"/>
                </a:lnTo>
                <a:lnTo>
                  <a:pt x="5062925" y="0"/>
                </a:lnTo>
                <a:lnTo>
                  <a:pt x="5062925" y="621217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8657159"/>
            <a:ext cx="4953776" cy="1620297"/>
          </a:xfrm>
          <a:custGeom>
            <a:avLst/>
            <a:gdLst/>
            <a:ahLst/>
            <a:cxnLst/>
            <a:rect l="l" t="t" r="r" b="b"/>
            <a:pathLst>
              <a:path w="4953776" h="1620297">
                <a:moveTo>
                  <a:pt x="0" y="0"/>
                </a:moveTo>
                <a:lnTo>
                  <a:pt x="4953776" y="0"/>
                </a:lnTo>
                <a:lnTo>
                  <a:pt x="4953776" y="1620297"/>
                </a:lnTo>
                <a:lnTo>
                  <a:pt x="0" y="16202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923233" y="1913705"/>
            <a:ext cx="14258062" cy="2877711"/>
          </a:xfrm>
          <a:prstGeom prst="rect">
            <a:avLst/>
          </a:prstGeom>
        </p:spPr>
        <p:txBody>
          <a:bodyPr lIns="0" tIns="0" rIns="0" bIns="0" rtlCol="0" anchor="t">
            <a:spAutoFit/>
          </a:bodyPr>
          <a:lstStyle/>
          <a:p>
            <a:pPr marL="0" lvl="0" indent="0" algn="l">
              <a:lnSpc>
                <a:spcPts val="12000"/>
              </a:lnSpc>
            </a:pPr>
            <a:r>
              <a:rPr lang="en-US" sz="4800" dirty="0">
                <a:solidFill>
                  <a:srgbClr val="2159FF"/>
                </a:solidFill>
                <a:latin typeface="Segoe UI Black" panose="020B0A02040204020203" pitchFamily="34" charset="0"/>
                <a:ea typeface="Segoe UI Black" panose="020B0A02040204020203" pitchFamily="34" charset="0"/>
                <a:cs typeface="League Spartan"/>
                <a:sym typeface="League Spartan"/>
              </a:rPr>
              <a:t>Detecting Bengali Hate Speech: A Machine </a:t>
            </a:r>
            <a:r>
              <a:rPr lang="en-US" sz="4800" dirty="0">
                <a:solidFill>
                  <a:srgbClr val="2159FF"/>
                </a:solidFill>
                <a:latin typeface="Segoe UI Black" panose="020B0A02040204020203" pitchFamily="34" charset="0"/>
                <a:ea typeface="Segoe UI Black" panose="020B0A02040204020203" pitchFamily="34" charset="0"/>
                <a:cs typeface="Poppins Bold" panose="020B0604020202020204" charset="0"/>
                <a:sym typeface="League Spartan"/>
              </a:rPr>
              <a:t>Learning</a:t>
            </a:r>
            <a:r>
              <a:rPr lang="en-US" sz="4800" dirty="0">
                <a:solidFill>
                  <a:srgbClr val="2159FF"/>
                </a:solidFill>
                <a:latin typeface="Segoe UI Black" panose="020B0A02040204020203" pitchFamily="34" charset="0"/>
                <a:ea typeface="Segoe UI Black" panose="020B0A02040204020203" pitchFamily="34" charset="0"/>
                <a:cs typeface="League Spartan"/>
                <a:sym typeface="League Spartan"/>
              </a:rPr>
              <a:t> and Transformer-Based Approach</a:t>
            </a:r>
          </a:p>
        </p:txBody>
      </p:sp>
      <p:grpSp>
        <p:nvGrpSpPr>
          <p:cNvPr id="6" name="Group 6"/>
          <p:cNvGrpSpPr/>
          <p:nvPr/>
        </p:nvGrpSpPr>
        <p:grpSpPr>
          <a:xfrm>
            <a:off x="15891973" y="7924258"/>
            <a:ext cx="3086100" cy="308610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1D3A"/>
            </a:solidFill>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9" name="TextBox 9"/>
          <p:cNvSpPr txBox="1"/>
          <p:nvPr/>
        </p:nvSpPr>
        <p:spPr>
          <a:xfrm>
            <a:off x="1028700" y="6481430"/>
            <a:ext cx="9334500" cy="3728200"/>
          </a:xfrm>
          <a:prstGeom prst="rect">
            <a:avLst/>
          </a:prstGeom>
        </p:spPr>
        <p:txBody>
          <a:bodyPr wrap="square" lIns="0" tIns="0" rIns="0" bIns="0" rtlCol="0" anchor="t">
            <a:spAutoFit/>
          </a:bodyPr>
          <a:lstStyle/>
          <a:p>
            <a:pPr marL="0" lvl="0" indent="0" algn="l">
              <a:lnSpc>
                <a:spcPts val="4864"/>
              </a:lnSpc>
            </a:pPr>
            <a:r>
              <a:rPr lang="en-US" sz="3474" b="1" dirty="0">
                <a:solidFill>
                  <a:srgbClr val="272727"/>
                </a:solidFill>
                <a:latin typeface="Open Sans Bold"/>
                <a:ea typeface="Open Sans Bold"/>
                <a:cs typeface="Open Sans Bold"/>
                <a:sym typeface="Open Sans Bold"/>
              </a:rPr>
              <a:t>Presented By :</a:t>
            </a:r>
          </a:p>
          <a:p>
            <a:pPr marL="0" lvl="0" indent="0" algn="l">
              <a:lnSpc>
                <a:spcPts val="4864"/>
              </a:lnSpc>
            </a:pPr>
            <a:r>
              <a:rPr lang="en-US" sz="3400" dirty="0">
                <a:solidFill>
                  <a:srgbClr val="272727"/>
                </a:solidFill>
                <a:ea typeface="Open Sans Bold"/>
                <a:cs typeface="Open Sans Bold"/>
                <a:sym typeface="Open Sans Bold"/>
              </a:rPr>
              <a:t>Sanjana Akhter 	                : 20210104150</a:t>
            </a:r>
          </a:p>
          <a:p>
            <a:pPr marL="0" lvl="0" indent="0" algn="l">
              <a:lnSpc>
                <a:spcPts val="4864"/>
              </a:lnSpc>
            </a:pPr>
            <a:r>
              <a:rPr lang="en-US" sz="3400" dirty="0">
                <a:solidFill>
                  <a:srgbClr val="272727"/>
                </a:solidFill>
                <a:ea typeface="Open Sans Bold"/>
                <a:cs typeface="Open Sans Bold"/>
                <a:sym typeface="Open Sans Bold"/>
              </a:rPr>
              <a:t>Md. Mostafizur Rahman : 20210104151</a:t>
            </a:r>
          </a:p>
          <a:p>
            <a:pPr marL="0" lvl="0" indent="0" algn="l">
              <a:lnSpc>
                <a:spcPts val="4864"/>
              </a:lnSpc>
            </a:pPr>
            <a:r>
              <a:rPr lang="en-US" sz="3400" dirty="0">
                <a:solidFill>
                  <a:srgbClr val="272727"/>
                </a:solidFill>
                <a:ea typeface="Open Sans Bold"/>
                <a:cs typeface="Open Sans Bold"/>
                <a:sym typeface="Open Sans Bold"/>
              </a:rPr>
              <a:t>Mahajabin Haque 	       : 20210104154</a:t>
            </a:r>
          </a:p>
          <a:p>
            <a:pPr marL="0" lvl="0" indent="0" algn="l">
              <a:lnSpc>
                <a:spcPts val="4864"/>
              </a:lnSpc>
            </a:pPr>
            <a:endParaRPr lang="en-US" sz="3474" b="1" dirty="0">
              <a:solidFill>
                <a:srgbClr val="272727"/>
              </a:solidFill>
              <a:latin typeface="Open Sans Bold"/>
              <a:ea typeface="Open Sans Bold"/>
              <a:cs typeface="Open Sans Bold"/>
              <a:sym typeface="Open Sans Bold"/>
            </a:endParaRPr>
          </a:p>
          <a:p>
            <a:pPr marL="0" lvl="0" indent="0" algn="l">
              <a:lnSpc>
                <a:spcPts val="4864"/>
              </a:lnSpc>
            </a:pPr>
            <a:r>
              <a:rPr lang="en-US" sz="3474" b="1" dirty="0">
                <a:solidFill>
                  <a:srgbClr val="272727"/>
                </a:solidFill>
                <a:latin typeface="Open Sans Bold"/>
                <a:ea typeface="Open Sans Bold"/>
                <a:cs typeface="Open Sans Bold"/>
                <a:sym typeface="Open Sans Bold"/>
              </a:rPr>
              <a:t>  </a:t>
            </a:r>
          </a:p>
        </p:txBody>
      </p:sp>
      <p:sp>
        <p:nvSpPr>
          <p:cNvPr id="10" name="TextBox 10"/>
          <p:cNvSpPr txBox="1"/>
          <p:nvPr/>
        </p:nvSpPr>
        <p:spPr>
          <a:xfrm>
            <a:off x="2353012" y="2132094"/>
            <a:ext cx="3190751" cy="527132"/>
          </a:xfrm>
          <a:prstGeom prst="rect">
            <a:avLst/>
          </a:prstGeom>
        </p:spPr>
        <p:txBody>
          <a:bodyPr lIns="0" tIns="0" rIns="0" bIns="0" rtlCol="0" anchor="t">
            <a:spAutoFit/>
          </a:bodyPr>
          <a:lstStyle/>
          <a:p>
            <a:pPr marL="0" lvl="0" indent="0" algn="l">
              <a:lnSpc>
                <a:spcPts val="4397"/>
              </a:lnSpc>
              <a:spcBef>
                <a:spcPct val="0"/>
              </a:spcBef>
            </a:pPr>
            <a:endParaRPr lang="en-US" sz="3141" dirty="0">
              <a:solidFill>
                <a:srgbClr val="272727"/>
              </a:solidFill>
              <a:latin typeface="Open Sans"/>
              <a:ea typeface="Open Sans"/>
              <a:cs typeface="Open Sans"/>
              <a:sym typeface="Open Sans"/>
            </a:endParaRPr>
          </a:p>
        </p:txBody>
      </p:sp>
      <p:grpSp>
        <p:nvGrpSpPr>
          <p:cNvPr id="12" name="Group 12"/>
          <p:cNvGrpSpPr/>
          <p:nvPr/>
        </p:nvGrpSpPr>
        <p:grpSpPr>
          <a:xfrm>
            <a:off x="-560090" y="-449186"/>
            <a:ext cx="2153405" cy="215340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552710" y="7626574"/>
            <a:ext cx="6118418" cy="2001233"/>
          </a:xfrm>
          <a:custGeom>
            <a:avLst/>
            <a:gdLst/>
            <a:ahLst/>
            <a:cxnLst/>
            <a:rect l="l" t="t" r="r" b="b"/>
            <a:pathLst>
              <a:path w="6118418" h="2001233">
                <a:moveTo>
                  <a:pt x="0" y="0"/>
                </a:moveTo>
                <a:lnTo>
                  <a:pt x="6118419" y="0"/>
                </a:lnTo>
                <a:lnTo>
                  <a:pt x="6118419" y="2001233"/>
                </a:lnTo>
                <a:lnTo>
                  <a:pt x="0" y="20012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5716250" y="-969225"/>
            <a:ext cx="3086100" cy="308610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6" name="Freeform 6"/>
          <p:cNvSpPr/>
          <p:nvPr/>
        </p:nvSpPr>
        <p:spPr>
          <a:xfrm flipH="1" flipV="1">
            <a:off x="12196375" y="928621"/>
            <a:ext cx="5062925" cy="6212178"/>
          </a:xfrm>
          <a:custGeom>
            <a:avLst/>
            <a:gdLst/>
            <a:ahLst/>
            <a:cxnLst/>
            <a:rect l="l" t="t" r="r" b="b"/>
            <a:pathLst>
              <a:path w="5062925" h="6212178">
                <a:moveTo>
                  <a:pt x="5062925" y="6212178"/>
                </a:moveTo>
                <a:lnTo>
                  <a:pt x="0" y="6212178"/>
                </a:lnTo>
                <a:lnTo>
                  <a:pt x="0" y="0"/>
                </a:lnTo>
                <a:lnTo>
                  <a:pt x="5062925" y="0"/>
                </a:lnTo>
                <a:lnTo>
                  <a:pt x="5062925" y="6212178"/>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1400236" y="928621"/>
            <a:ext cx="9036202" cy="1179169"/>
          </a:xfrm>
          <a:prstGeom prst="rect">
            <a:avLst/>
          </a:prstGeom>
        </p:spPr>
        <p:txBody>
          <a:bodyPr wrap="square" lIns="0" tIns="0" rIns="0" bIns="0" rtlCol="0" anchor="t">
            <a:spAutoFit/>
          </a:bodyPr>
          <a:lstStyle/>
          <a:p>
            <a:pPr marL="0" lvl="0" indent="0" algn="l">
              <a:lnSpc>
                <a:spcPts val="10080"/>
              </a:lnSpc>
              <a:spcBef>
                <a:spcPct val="0"/>
              </a:spcBef>
            </a:pPr>
            <a:r>
              <a:rPr lang="en-US" sz="4800" dirty="0">
                <a:solidFill>
                  <a:srgbClr val="272727"/>
                </a:solidFill>
                <a:latin typeface="Segoe UI Black" panose="020B0A02040204020203" pitchFamily="34" charset="0"/>
                <a:ea typeface="Segoe UI Black" panose="020B0A02040204020203" pitchFamily="34" charset="0"/>
                <a:cs typeface="League Spartan"/>
                <a:sym typeface="League Spartan"/>
              </a:rPr>
              <a:t>Table</a:t>
            </a:r>
            <a:r>
              <a:rPr lang="en-US" sz="4800" dirty="0">
                <a:solidFill>
                  <a:srgbClr val="272727"/>
                </a:solidFill>
                <a:latin typeface="League Spartan"/>
                <a:ea typeface="League Spartan"/>
                <a:cs typeface="League Spartan"/>
                <a:sym typeface="League Spartan"/>
              </a:rPr>
              <a:t> of contents</a:t>
            </a:r>
          </a:p>
        </p:txBody>
      </p:sp>
      <p:sp>
        <p:nvSpPr>
          <p:cNvPr id="10" name="TextBox 10"/>
          <p:cNvSpPr txBox="1"/>
          <p:nvPr/>
        </p:nvSpPr>
        <p:spPr>
          <a:xfrm>
            <a:off x="2362200" y="2660426"/>
            <a:ext cx="5450287" cy="5226495"/>
          </a:xfrm>
          <a:prstGeom prst="rect">
            <a:avLst/>
          </a:prstGeom>
        </p:spPr>
        <p:txBody>
          <a:bodyPr lIns="0" tIns="0" rIns="0" bIns="0" rtlCol="0" anchor="t">
            <a:spAutoFit/>
          </a:bodyPr>
          <a:lstStyle/>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srgbClr val="393A38"/>
                </a:solidFill>
                <a:effectLst/>
                <a:uLnTx/>
                <a:uFillTx/>
                <a:ea typeface="Poppins"/>
                <a:cs typeface="Poppins"/>
                <a:sym typeface="Poppins"/>
              </a:rPr>
              <a:t>Introduction</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srgbClr val="393A38"/>
                </a:solidFill>
                <a:effectLst/>
                <a:uLnTx/>
                <a:uFillTx/>
                <a:ea typeface="Poppins"/>
                <a:cs typeface="Poppins"/>
                <a:sym typeface="Poppins"/>
              </a:rPr>
              <a:t>Problem Statement</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Research Objective</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Related Works</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Dataset</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srgbClr val="393A38"/>
                </a:solidFill>
                <a:effectLst/>
                <a:uLnTx/>
                <a:uFillTx/>
                <a:ea typeface="Poppins"/>
                <a:cs typeface="Poppins"/>
                <a:sym typeface="Poppins"/>
              </a:rPr>
              <a:t>Data Preprocessing</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Methodology</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srgbClr val="393A38"/>
                </a:solidFill>
                <a:effectLst/>
                <a:uLnTx/>
                <a:uFillTx/>
                <a:ea typeface="Poppins"/>
                <a:cs typeface="Poppins"/>
                <a:sym typeface="Poppins"/>
              </a:rPr>
              <a:t>Evaluation Metrics</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Result Analysis</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srgbClr val="393A38"/>
                </a:solidFill>
                <a:effectLst/>
                <a:uLnTx/>
                <a:uFillTx/>
                <a:ea typeface="Poppins"/>
                <a:cs typeface="Poppins"/>
                <a:sym typeface="Poppins"/>
              </a:rPr>
              <a:t>Challenges and Limitation </a:t>
            </a:r>
          </a:p>
          <a:p>
            <a:pPr marL="526865" marR="0" lvl="1" indent="-263433" algn="l" defTabSz="914400" rtl="0" eaLnBrk="1" fontAlgn="auto" latinLnBrk="0" hangingPunct="1">
              <a:lnSpc>
                <a:spcPts val="3416"/>
              </a:lnSpc>
              <a:spcBef>
                <a:spcPts val="0"/>
              </a:spcBef>
              <a:spcAft>
                <a:spcPts val="0"/>
              </a:spcAft>
              <a:buClrTx/>
              <a:buSzTx/>
              <a:buFont typeface="Arial"/>
              <a:buChar char="•"/>
              <a:tabLst/>
              <a:defRPr/>
            </a:pPr>
            <a:r>
              <a:rPr lang="en-US" sz="3200" dirty="0">
                <a:solidFill>
                  <a:srgbClr val="393A38"/>
                </a:solidFill>
                <a:ea typeface="Poppins"/>
                <a:cs typeface="Poppins"/>
                <a:sym typeface="Poppins"/>
              </a:rPr>
              <a:t>Conclusion</a:t>
            </a:r>
            <a:endParaRPr kumimoji="0" lang="en-US" sz="3200" b="0" i="0" u="none" strike="noStrike" kern="1200" cap="none" spc="0" normalizeH="0" baseline="0" noProof="0" dirty="0">
              <a:ln>
                <a:noFill/>
              </a:ln>
              <a:solidFill>
                <a:srgbClr val="393A38"/>
              </a:solidFill>
              <a:effectLst/>
              <a:uLnTx/>
              <a:uFillTx/>
              <a:ea typeface="Poppins"/>
              <a:cs typeface="Poppins"/>
              <a:sym typeface="Poppins"/>
            </a:endParaRPr>
          </a:p>
          <a:p>
            <a:pPr marL="0" lvl="0" indent="0" algn="l">
              <a:lnSpc>
                <a:spcPts val="3739"/>
              </a:lnSpc>
            </a:pPr>
            <a:endParaRPr lang="en-US" sz="2199" dirty="0">
              <a:solidFill>
                <a:srgbClr val="272727"/>
              </a:solidFill>
              <a:ea typeface="Open Sans"/>
              <a:cs typeface="Open Sans"/>
              <a:sym typeface="Open Sans"/>
            </a:endParaRPr>
          </a:p>
        </p:txBody>
      </p:sp>
      <p:grpSp>
        <p:nvGrpSpPr>
          <p:cNvPr id="11" name="Group 6">
            <a:extLst>
              <a:ext uri="{FF2B5EF4-FFF2-40B4-BE49-F238E27FC236}">
                <a16:creationId xmlns:a16="http://schemas.microsoft.com/office/drawing/2014/main" id="{BD5D3BA5-B58E-8C96-359B-27F6061F95B8}"/>
              </a:ext>
            </a:extLst>
          </p:cNvPr>
          <p:cNvGrpSpPr/>
          <p:nvPr/>
        </p:nvGrpSpPr>
        <p:grpSpPr>
          <a:xfrm>
            <a:off x="11353800" y="2473213"/>
            <a:ext cx="4191000" cy="5340574"/>
            <a:chOff x="0" y="0"/>
            <a:chExt cx="587005" cy="699736"/>
          </a:xfrm>
        </p:grpSpPr>
        <p:sp>
          <p:nvSpPr>
            <p:cNvPr id="12" name="Freeform 7">
              <a:extLst>
                <a:ext uri="{FF2B5EF4-FFF2-40B4-BE49-F238E27FC236}">
                  <a16:creationId xmlns:a16="http://schemas.microsoft.com/office/drawing/2014/main" id="{BA1F0CB7-1D33-D493-7FE8-E068B3D3BB32}"/>
                </a:ext>
              </a:extLst>
            </p:cNvPr>
            <p:cNvSpPr/>
            <p:nvPr/>
          </p:nvSpPr>
          <p:spPr>
            <a:xfrm>
              <a:off x="0" y="0"/>
              <a:ext cx="587005" cy="699736"/>
            </a:xfrm>
            <a:custGeom>
              <a:avLst/>
              <a:gdLst/>
              <a:ahLst/>
              <a:cxnLst/>
              <a:rect l="l" t="t" r="r" b="b"/>
              <a:pathLst>
                <a:path w="587005" h="699736">
                  <a:moveTo>
                    <a:pt x="46996" y="0"/>
                  </a:moveTo>
                  <a:lnTo>
                    <a:pt x="540009" y="0"/>
                  </a:lnTo>
                  <a:cubicBezTo>
                    <a:pt x="565964" y="0"/>
                    <a:pt x="587005" y="21041"/>
                    <a:pt x="587005" y="46996"/>
                  </a:cubicBezTo>
                  <a:lnTo>
                    <a:pt x="587005" y="652740"/>
                  </a:lnTo>
                  <a:cubicBezTo>
                    <a:pt x="587005" y="665204"/>
                    <a:pt x="582054" y="677158"/>
                    <a:pt x="573240" y="685971"/>
                  </a:cubicBezTo>
                  <a:cubicBezTo>
                    <a:pt x="564427" y="694785"/>
                    <a:pt x="552473" y="699736"/>
                    <a:pt x="540009" y="699736"/>
                  </a:cubicBezTo>
                  <a:lnTo>
                    <a:pt x="46996" y="699736"/>
                  </a:lnTo>
                  <a:cubicBezTo>
                    <a:pt x="21041" y="699736"/>
                    <a:pt x="0" y="678695"/>
                    <a:pt x="0" y="652740"/>
                  </a:cubicBezTo>
                  <a:lnTo>
                    <a:pt x="0" y="46996"/>
                  </a:lnTo>
                  <a:cubicBezTo>
                    <a:pt x="0" y="21041"/>
                    <a:pt x="21041" y="0"/>
                    <a:pt x="46996" y="0"/>
                  </a:cubicBezTo>
                  <a:close/>
                </a:path>
              </a:pathLst>
            </a:custGeom>
            <a:blipFill>
              <a:blip r:embed="rId6"/>
              <a:stretch>
                <a:fillRect t="-13312" b="-13312"/>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10" name="AutoShape 10"/>
          <p:cNvSpPr/>
          <p:nvPr/>
        </p:nvSpPr>
        <p:spPr>
          <a:xfrm flipV="1">
            <a:off x="1447801" y="2392160"/>
            <a:ext cx="7924800" cy="35560"/>
          </a:xfrm>
          <a:prstGeom prst="line">
            <a:avLst/>
          </a:prstGeom>
          <a:ln w="19050" cap="flat">
            <a:solidFill>
              <a:srgbClr val="7C7C7C"/>
            </a:solidFill>
            <a:prstDash val="solid"/>
            <a:headEnd type="none" w="sm" len="sm"/>
            <a:tailEnd type="none" w="sm" len="sm"/>
          </a:ln>
        </p:spPr>
      </p:sp>
      <p:sp>
        <p:nvSpPr>
          <p:cNvPr id="11" name="TextBox 11"/>
          <p:cNvSpPr txBox="1"/>
          <p:nvPr/>
        </p:nvSpPr>
        <p:spPr>
          <a:xfrm>
            <a:off x="1447800" y="1143741"/>
            <a:ext cx="8732159" cy="1180516"/>
          </a:xfrm>
          <a:prstGeom prst="rect">
            <a:avLst/>
          </a:prstGeom>
        </p:spPr>
        <p:txBody>
          <a:bodyPr lIns="0" tIns="0" rIns="0" bIns="0" rtlCol="0" anchor="t">
            <a:spAutoFit/>
          </a:bodyPr>
          <a:lstStyle/>
          <a:p>
            <a:pPr marL="0" lvl="0" indent="0" algn="l">
              <a:lnSpc>
                <a:spcPts val="10080"/>
              </a:lnSpc>
              <a:spcBef>
                <a:spcPct val="0"/>
              </a:spcBef>
            </a:pPr>
            <a:r>
              <a:rPr lang="en-US" sz="7200" dirty="0">
                <a:solidFill>
                  <a:srgbClr val="272727"/>
                </a:solidFill>
                <a:latin typeface="Segoe UI Black" panose="020B0A02040204020203" pitchFamily="34" charset="0"/>
                <a:ea typeface="Segoe UI Black" panose="020B0A02040204020203" pitchFamily="34" charset="0"/>
                <a:cs typeface="League Spartan"/>
                <a:sym typeface="League Spartan"/>
              </a:rPr>
              <a:t>Introduction</a:t>
            </a:r>
          </a:p>
        </p:txBody>
      </p:sp>
      <p:sp>
        <p:nvSpPr>
          <p:cNvPr id="12" name="TextBox 12"/>
          <p:cNvSpPr txBox="1"/>
          <p:nvPr/>
        </p:nvSpPr>
        <p:spPr>
          <a:xfrm>
            <a:off x="1447800" y="3383500"/>
            <a:ext cx="8732159" cy="4744889"/>
          </a:xfrm>
          <a:prstGeom prst="rect">
            <a:avLst/>
          </a:prstGeom>
        </p:spPr>
        <p:txBody>
          <a:bodyPr lIns="0" tIns="0" rIns="0" bIns="0" rtlCol="0" anchor="t">
            <a:spAutoFit/>
          </a:bodyPr>
          <a:lstStyle/>
          <a:p>
            <a:pPr marL="0" lvl="0" indent="0" algn="l">
              <a:lnSpc>
                <a:spcPts val="3739"/>
              </a:lnSpc>
            </a:pPr>
            <a:r>
              <a:rPr lang="en-US" sz="2600" dirty="0">
                <a:latin typeface="Open Sans" panose="020B0606030504020204" pitchFamily="34" charset="0"/>
                <a:ea typeface="Open Sans" panose="020B0606030504020204" pitchFamily="34" charset="0"/>
                <a:cs typeface="Open Sans" panose="020B0606030504020204" pitchFamily="34" charset="0"/>
              </a:rPr>
              <a:t>Hate speech on social media is a growing concern, impacting individuals and communities. Detecting hate speech in Bengali is particularly challenging due to limited datasets and the unique nature of regional language expressions. </a:t>
            </a:r>
          </a:p>
          <a:p>
            <a:pPr marL="0" lvl="0" indent="0" algn="l">
              <a:lnSpc>
                <a:spcPts val="3739"/>
              </a:lnSpc>
            </a:pPr>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0" lvl="0" indent="0" algn="l">
              <a:lnSpc>
                <a:spcPts val="3739"/>
              </a:lnSpc>
            </a:pPr>
            <a:r>
              <a:rPr lang="en-US" sz="2600" dirty="0">
                <a:latin typeface="Open Sans" panose="020B0606030504020204" pitchFamily="34" charset="0"/>
                <a:ea typeface="Open Sans" panose="020B0606030504020204" pitchFamily="34" charset="0"/>
                <a:cs typeface="Open Sans" panose="020B0606030504020204" pitchFamily="34" charset="0"/>
              </a:rPr>
              <a:t>This research focuses on using machine learning and transformer-based models, including BanglaBERT, mBERT, and XLM-</a:t>
            </a:r>
            <a:r>
              <a:rPr lang="en-US" sz="2600" dirty="0" err="1">
                <a:latin typeface="Open Sans" panose="020B0606030504020204" pitchFamily="34" charset="0"/>
                <a:ea typeface="Open Sans" panose="020B0606030504020204" pitchFamily="34" charset="0"/>
                <a:cs typeface="Open Sans" panose="020B0606030504020204" pitchFamily="34" charset="0"/>
              </a:rPr>
              <a:t>RoBERTa</a:t>
            </a:r>
            <a:r>
              <a:rPr lang="en-US" sz="2600" dirty="0">
                <a:latin typeface="Open Sans" panose="020B0606030504020204" pitchFamily="34" charset="0"/>
                <a:ea typeface="Open Sans" panose="020B0606030504020204" pitchFamily="34" charset="0"/>
                <a:cs typeface="Open Sans" panose="020B0606030504020204" pitchFamily="34" charset="0"/>
              </a:rPr>
              <a:t>, to detect Bengali hate speech. </a:t>
            </a:r>
            <a:endParaRPr lang="en-US" sz="2600" dirty="0">
              <a:solidFill>
                <a:srgbClr val="272727"/>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grpSp>
        <p:nvGrpSpPr>
          <p:cNvPr id="13" name="Group 13"/>
          <p:cNvGrpSpPr/>
          <p:nvPr/>
        </p:nvGrpSpPr>
        <p:grpSpPr>
          <a:xfrm>
            <a:off x="-1448028" y="8001888"/>
            <a:ext cx="3421829" cy="342182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6" name="Rectangle 1">
            <a:extLst>
              <a:ext uri="{FF2B5EF4-FFF2-40B4-BE49-F238E27FC236}">
                <a16:creationId xmlns:a16="http://schemas.microsoft.com/office/drawing/2014/main" id="{93B5DD11-C916-AECE-BF1D-DF4F2ECC69B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2">
            <a:extLst>
              <a:ext uri="{FF2B5EF4-FFF2-40B4-BE49-F238E27FC236}">
                <a16:creationId xmlns:a16="http://schemas.microsoft.com/office/drawing/2014/main" id="{85333914-4974-8231-0DD5-9F050D453131}"/>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9" name="Picture 18">
            <a:extLst>
              <a:ext uri="{FF2B5EF4-FFF2-40B4-BE49-F238E27FC236}">
                <a16:creationId xmlns:a16="http://schemas.microsoft.com/office/drawing/2014/main" id="{3AEE10AC-44B5-A06D-7AEE-C4E01C17C4A6}"/>
              </a:ext>
            </a:extLst>
          </p:cNvPr>
          <p:cNvPicPr>
            <a:picLocks noChangeAspect="1"/>
          </p:cNvPicPr>
          <p:nvPr/>
        </p:nvPicPr>
        <p:blipFill>
          <a:blip r:embed="rId2"/>
          <a:stretch>
            <a:fillRect/>
          </a:stretch>
        </p:blipFill>
        <p:spPr>
          <a:xfrm>
            <a:off x="11963401" y="2427720"/>
            <a:ext cx="4876800" cy="4876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14" name="Group 14"/>
          <p:cNvGrpSpPr/>
          <p:nvPr/>
        </p:nvGrpSpPr>
        <p:grpSpPr>
          <a:xfrm>
            <a:off x="-717638" y="7715250"/>
            <a:ext cx="3086100" cy="308610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8"/>
          <p:cNvSpPr txBox="1"/>
          <p:nvPr/>
        </p:nvSpPr>
        <p:spPr>
          <a:xfrm>
            <a:off x="1600200" y="836994"/>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Problem Statement</a:t>
            </a:r>
          </a:p>
        </p:txBody>
      </p:sp>
      <p:sp>
        <p:nvSpPr>
          <p:cNvPr id="35" name="TextBox 34">
            <a:extLst>
              <a:ext uri="{FF2B5EF4-FFF2-40B4-BE49-F238E27FC236}">
                <a16:creationId xmlns:a16="http://schemas.microsoft.com/office/drawing/2014/main" id="{6C4FCADA-360B-3AD1-7FE4-5F241C53005A}"/>
              </a:ext>
            </a:extLst>
          </p:cNvPr>
          <p:cNvSpPr txBox="1"/>
          <p:nvPr/>
        </p:nvSpPr>
        <p:spPr>
          <a:xfrm>
            <a:off x="2514600" y="2487210"/>
            <a:ext cx="9502140" cy="5693866"/>
          </a:xfrm>
          <a:prstGeom prst="rect">
            <a:avLst/>
          </a:prstGeom>
          <a:noFill/>
        </p:spPr>
        <p:txBody>
          <a:bodyPr wrap="square">
            <a:spAutoFit/>
          </a:bodyPr>
          <a:lstStyle/>
          <a:p>
            <a:pPr marL="342900" indent="-3429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Hate speech on social media is rising, particularly in regional languages like Bengali.</a:t>
            </a:r>
          </a:p>
          <a:p>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It spreads negativity, harms individuals, and disrupts online communities.</a:t>
            </a:r>
          </a:p>
          <a:p>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Traditional methods struggle to detect hate speech due to language nuances and informal expressions.</a:t>
            </a:r>
          </a:p>
          <a:p>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Bengali hate speech often includes unique cultural references and slang.</a:t>
            </a:r>
          </a:p>
          <a:p>
            <a:endParaRPr lang="en-US" sz="2600" dirty="0">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US" sz="2600" dirty="0">
                <a:latin typeface="Open Sans" panose="020B0606030504020204" pitchFamily="34" charset="0"/>
                <a:ea typeface="Open Sans" panose="020B0606030504020204" pitchFamily="34" charset="0"/>
                <a:cs typeface="Open Sans" panose="020B0606030504020204" pitchFamily="34" charset="0"/>
              </a:rPr>
              <a:t>Transformer-based models, can improve detection accuracy and help mitigate this issue.</a:t>
            </a:r>
          </a:p>
        </p:txBody>
      </p:sp>
      <p:pic>
        <p:nvPicPr>
          <p:cNvPr id="2" name="Picture 1">
            <a:extLst>
              <a:ext uri="{FF2B5EF4-FFF2-40B4-BE49-F238E27FC236}">
                <a16:creationId xmlns:a16="http://schemas.microsoft.com/office/drawing/2014/main" id="{BED1D079-3F89-343B-5C79-71E5C9280E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96800" y="2705100"/>
            <a:ext cx="4038600" cy="4038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7E5E9-BCD5-6814-D288-EED0992339EC}"/>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75CA3F3D-760F-7F74-96CA-7A1B42634469}"/>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650643B5-6426-8263-9ED9-261126555A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6" name="TextBox 16">
              <a:extLst>
                <a:ext uri="{FF2B5EF4-FFF2-40B4-BE49-F238E27FC236}">
                  <a16:creationId xmlns:a16="http://schemas.microsoft.com/office/drawing/2014/main" id="{A064C8BC-6E16-BEC6-28CA-1A1BA4D347F5}"/>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DE104D11-0D32-C712-BDAF-01DF8F99EEBB}"/>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8">
            <a:extLst>
              <a:ext uri="{FF2B5EF4-FFF2-40B4-BE49-F238E27FC236}">
                <a16:creationId xmlns:a16="http://schemas.microsoft.com/office/drawing/2014/main" id="{CECA87CE-F5DE-20B9-0CA3-A636B7455473}"/>
              </a:ext>
            </a:extLst>
          </p:cNvPr>
          <p:cNvSpPr txBox="1"/>
          <p:nvPr/>
        </p:nvSpPr>
        <p:spPr>
          <a:xfrm>
            <a:off x="1600200" y="1141602"/>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Research Objective</a:t>
            </a:r>
          </a:p>
        </p:txBody>
      </p:sp>
      <p:sp>
        <p:nvSpPr>
          <p:cNvPr id="35" name="TextBox 34">
            <a:extLst>
              <a:ext uri="{FF2B5EF4-FFF2-40B4-BE49-F238E27FC236}">
                <a16:creationId xmlns:a16="http://schemas.microsoft.com/office/drawing/2014/main" id="{4A1728F8-1680-C562-0359-184E4BD22DB3}"/>
              </a:ext>
            </a:extLst>
          </p:cNvPr>
          <p:cNvSpPr txBox="1"/>
          <p:nvPr/>
        </p:nvSpPr>
        <p:spPr>
          <a:xfrm>
            <a:off x="2590800" y="3086100"/>
            <a:ext cx="13639800" cy="3970318"/>
          </a:xfrm>
          <a:prstGeom prst="rect">
            <a:avLst/>
          </a:prstGeom>
          <a:noFill/>
        </p:spPr>
        <p:txBody>
          <a:bodyPr wrap="square">
            <a:spAutoFit/>
          </a:bodyPr>
          <a:lstStyle/>
          <a:p>
            <a:pPr marL="457200" indent="-457200">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Analyze</a:t>
            </a:r>
            <a:r>
              <a:rPr lang="en-US" sz="2800" dirty="0">
                <a:latin typeface="Open Sans" panose="020B0606030504020204" pitchFamily="34" charset="0"/>
                <a:ea typeface="Open Sans" panose="020B0606030504020204" pitchFamily="34" charset="0"/>
                <a:cs typeface="Open Sans" panose="020B0606030504020204" pitchFamily="34" charset="0"/>
              </a:rPr>
              <a:t> the rise of Bengali hate speech on social media and its impact.</a:t>
            </a:r>
          </a:p>
          <a:p>
            <a:pPr marL="457200" indent="-457200">
              <a:buFont typeface="Arial" panose="020B0604020202020204" pitchFamily="34" charset="0"/>
              <a:buChar char="•"/>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Develop </a:t>
            </a:r>
            <a:r>
              <a:rPr lang="en-US" sz="2800" dirty="0">
                <a:latin typeface="Open Sans" panose="020B0606030504020204" pitchFamily="34" charset="0"/>
                <a:ea typeface="Open Sans" panose="020B0606030504020204" pitchFamily="34" charset="0"/>
                <a:cs typeface="Open Sans" panose="020B0606030504020204" pitchFamily="34" charset="0"/>
              </a:rPr>
              <a:t>a detection model using machine learning and transformers.</a:t>
            </a:r>
          </a:p>
          <a:p>
            <a:pPr marL="457200" indent="-457200">
              <a:buFont typeface="Arial" panose="020B0604020202020204" pitchFamily="34" charset="0"/>
              <a:buChar char="•"/>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Compare</a:t>
            </a:r>
            <a:r>
              <a:rPr lang="en-US" sz="2800" dirty="0">
                <a:latin typeface="Open Sans" panose="020B0606030504020204" pitchFamily="34" charset="0"/>
                <a:ea typeface="Open Sans" panose="020B0606030504020204" pitchFamily="34" charset="0"/>
                <a:cs typeface="Open Sans" panose="020B0606030504020204" pitchFamily="34" charset="0"/>
              </a:rPr>
              <a:t> ML models (SVM, </a:t>
            </a:r>
            <a:r>
              <a:rPr lang="en-US" sz="2800" dirty="0" err="1">
                <a:latin typeface="Open Sans" panose="020B0606030504020204" pitchFamily="34" charset="0"/>
                <a:ea typeface="Open Sans" panose="020B0606030504020204" pitchFamily="34" charset="0"/>
                <a:cs typeface="Open Sans" panose="020B0606030504020204" pitchFamily="34" charset="0"/>
              </a:rPr>
              <a:t>XGBoost</a:t>
            </a:r>
            <a:r>
              <a:rPr lang="en-US" sz="2800" dirty="0">
                <a:latin typeface="Open Sans" panose="020B0606030504020204" pitchFamily="34" charset="0"/>
                <a:ea typeface="Open Sans" panose="020B0606030504020204" pitchFamily="34" charset="0"/>
                <a:cs typeface="Open Sans" panose="020B0606030504020204" pitchFamily="34" charset="0"/>
              </a:rPr>
              <a:t>, Naïve Bayes, KNN) with transformers (</a:t>
            </a:r>
            <a:r>
              <a:rPr lang="en-US" sz="2800" dirty="0" err="1">
                <a:latin typeface="Open Sans" panose="020B0606030504020204" pitchFamily="34" charset="0"/>
                <a:ea typeface="Open Sans" panose="020B0606030504020204" pitchFamily="34" charset="0"/>
                <a:cs typeface="Open Sans" panose="020B0606030504020204" pitchFamily="34" charset="0"/>
              </a:rPr>
              <a:t>BanglaBERT</a:t>
            </a:r>
            <a:r>
              <a:rPr lang="en-US" sz="2800" dirty="0">
                <a:latin typeface="Open Sans" panose="020B0606030504020204" pitchFamily="34" charset="0"/>
                <a:ea typeface="Open Sans" panose="020B0606030504020204" pitchFamily="34" charset="0"/>
                <a:cs typeface="Open Sans" panose="020B0606030504020204" pitchFamily="34" charset="0"/>
              </a:rPr>
              <a:t>, mBERT)</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Evaluate</a:t>
            </a:r>
            <a:r>
              <a:rPr lang="en-US" sz="2800" dirty="0">
                <a:latin typeface="Open Sans" panose="020B0606030504020204" pitchFamily="34" charset="0"/>
                <a:ea typeface="Open Sans" panose="020B0606030504020204" pitchFamily="34" charset="0"/>
                <a:cs typeface="Open Sans" panose="020B0606030504020204" pitchFamily="34" charset="0"/>
              </a:rPr>
              <a:t> Models effectiveness in detecting nuanced hate </a:t>
            </a:r>
            <a:r>
              <a:rPr lang="en-US" sz="2800" dirty="0" err="1">
                <a:latin typeface="Open Sans" panose="020B0606030504020204" pitchFamily="34" charset="0"/>
                <a:ea typeface="Open Sans" panose="020B0606030504020204" pitchFamily="34" charset="0"/>
                <a:cs typeface="Open Sans" panose="020B0606030504020204" pitchFamily="34" charset="0"/>
              </a:rPr>
              <a:t>speech.Enhance</a:t>
            </a:r>
            <a:r>
              <a:rPr lang="en-US" sz="2800" dirty="0">
                <a:latin typeface="Open Sans" panose="020B0606030504020204" pitchFamily="34" charset="0"/>
                <a:ea typeface="Open Sans" panose="020B0606030504020204" pitchFamily="34" charset="0"/>
                <a:cs typeface="Open Sans" panose="020B0606030504020204" pitchFamily="34" charset="0"/>
              </a:rPr>
              <a:t> detection by addressing dataset imbalance and improving preprocessing.</a:t>
            </a:r>
          </a:p>
        </p:txBody>
      </p:sp>
    </p:spTree>
    <p:extLst>
      <p:ext uri="{BB962C8B-B14F-4D97-AF65-F5344CB8AC3E}">
        <p14:creationId xmlns:p14="http://schemas.microsoft.com/office/powerpoint/2010/main" val="2513603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EE0407D0-FFA6-FA24-F5D0-890F4EDEBBBD}"/>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C62AA101-F422-2126-1793-F7B8623F5631}"/>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B182FC70-278B-3C82-41F2-AF0748D0EE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6" name="TextBox 16">
              <a:extLst>
                <a:ext uri="{FF2B5EF4-FFF2-40B4-BE49-F238E27FC236}">
                  <a16:creationId xmlns:a16="http://schemas.microsoft.com/office/drawing/2014/main" id="{938C5AE5-E68D-3CAD-BFFC-AA43776915E4}"/>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4AC69D2B-5DD2-FD59-C3A3-12ED5F6F6409}"/>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8">
            <a:extLst>
              <a:ext uri="{FF2B5EF4-FFF2-40B4-BE49-F238E27FC236}">
                <a16:creationId xmlns:a16="http://schemas.microsoft.com/office/drawing/2014/main" id="{91A0CFA3-EFBB-DD68-9DB0-073D7DE315BA}"/>
              </a:ext>
            </a:extLst>
          </p:cNvPr>
          <p:cNvSpPr txBox="1"/>
          <p:nvPr/>
        </p:nvSpPr>
        <p:spPr>
          <a:xfrm>
            <a:off x="1600200" y="836994"/>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Related Works</a:t>
            </a:r>
          </a:p>
        </p:txBody>
      </p:sp>
      <p:sp>
        <p:nvSpPr>
          <p:cNvPr id="35" name="TextBox 34">
            <a:extLst>
              <a:ext uri="{FF2B5EF4-FFF2-40B4-BE49-F238E27FC236}">
                <a16:creationId xmlns:a16="http://schemas.microsoft.com/office/drawing/2014/main" id="{55BF13BB-9603-2EC3-799D-7A14A7339574}"/>
              </a:ext>
            </a:extLst>
          </p:cNvPr>
          <p:cNvSpPr txBox="1"/>
          <p:nvPr/>
        </p:nvSpPr>
        <p:spPr>
          <a:xfrm>
            <a:off x="2079140" y="2170825"/>
            <a:ext cx="14249400" cy="5663089"/>
          </a:xfrm>
          <a:prstGeom prst="rect">
            <a:avLst/>
          </a:prstGeom>
          <a:noFill/>
        </p:spPr>
        <p:txBody>
          <a:bodyPr wrap="square">
            <a:spAutoFit/>
          </a:bodyPr>
          <a:lstStyle/>
          <a:p>
            <a:pPr>
              <a:buFont typeface="Arial" panose="020B0604020202020204" pitchFamily="34" charset="0"/>
              <a:buChar char="•"/>
            </a:pPr>
            <a:r>
              <a:rPr lang="en-US" sz="2800" b="1" dirty="0" err="1">
                <a:latin typeface="Open Sans" panose="020B0606030504020204" pitchFamily="34" charset="0"/>
                <a:ea typeface="Open Sans" panose="020B0606030504020204" pitchFamily="34" charset="0"/>
                <a:cs typeface="Open Sans" panose="020B0606030504020204" pitchFamily="34" charset="0"/>
              </a:rPr>
              <a:t>Jobair</a:t>
            </a:r>
            <a:r>
              <a:rPr lang="en-US" sz="2800" b="1" dirty="0">
                <a:latin typeface="Open Sans" panose="020B0606030504020204" pitchFamily="34" charset="0"/>
                <a:ea typeface="Open Sans" panose="020B0606030504020204" pitchFamily="34" charset="0"/>
                <a:cs typeface="Open Sans" panose="020B0606030504020204" pitchFamily="34" charset="0"/>
              </a:rPr>
              <a:t> et al. (2024):</a:t>
            </a:r>
            <a:r>
              <a:rPr lang="en-US" sz="2800" dirty="0">
                <a:latin typeface="Open Sans" panose="020B0606030504020204" pitchFamily="34" charset="0"/>
                <a:ea typeface="Open Sans" panose="020B0606030504020204" pitchFamily="34" charset="0"/>
                <a:cs typeface="Open Sans" panose="020B0606030504020204" pitchFamily="34" charset="0"/>
              </a:rPr>
              <a:t> </a:t>
            </a:r>
            <a:r>
              <a:rPr lang="en-US" sz="2800" u="sng" dirty="0">
                <a:latin typeface="Open Sans" panose="020B0606030504020204" pitchFamily="34" charset="0"/>
                <a:ea typeface="Open Sans" panose="020B0606030504020204" pitchFamily="34" charset="0"/>
                <a:cs typeface="Open Sans" panose="020B0606030504020204" pitchFamily="34" charset="0"/>
              </a:rPr>
              <a:t>BERT performed best (97% accuracy) </a:t>
            </a:r>
            <a:r>
              <a:rPr lang="en-US" sz="2800" dirty="0">
                <a:latin typeface="Open Sans" panose="020B0606030504020204" pitchFamily="34" charset="0"/>
                <a:ea typeface="Open Sans" panose="020B0606030504020204" pitchFamily="34" charset="0"/>
                <a:cs typeface="Open Sans" panose="020B0606030504020204" pitchFamily="34" charset="0"/>
              </a:rPr>
              <a:t>on an existing dataset but 80% on a new dataset.</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Karim et al. (2023):</a:t>
            </a:r>
            <a:r>
              <a:rPr lang="en-US" sz="2800" dirty="0">
                <a:latin typeface="Open Sans" panose="020B0606030504020204" pitchFamily="34" charset="0"/>
                <a:ea typeface="Open Sans" panose="020B0606030504020204" pitchFamily="34" charset="0"/>
                <a:cs typeface="Open Sans" panose="020B0606030504020204" pitchFamily="34" charset="0"/>
              </a:rPr>
              <a:t> Explored multimodal hate speech detection using text and image models. </a:t>
            </a:r>
            <a:r>
              <a:rPr lang="en-US" sz="2800" u="sng" dirty="0">
                <a:latin typeface="Open Sans" panose="020B0606030504020204" pitchFamily="34" charset="0"/>
                <a:ea typeface="Open Sans" panose="020B0606030504020204" pitchFamily="34" charset="0"/>
                <a:cs typeface="Open Sans" panose="020B0606030504020204" pitchFamily="34" charset="0"/>
              </a:rPr>
              <a:t>XLM-</a:t>
            </a:r>
            <a:r>
              <a:rPr lang="en-US" sz="2800" u="sng" dirty="0" err="1">
                <a:latin typeface="Open Sans" panose="020B0606030504020204" pitchFamily="34" charset="0"/>
                <a:ea typeface="Open Sans" panose="020B0606030504020204" pitchFamily="34" charset="0"/>
                <a:cs typeface="Open Sans" panose="020B0606030504020204" pitchFamily="34" charset="0"/>
              </a:rPr>
              <a:t>RoBERTa</a:t>
            </a:r>
            <a:r>
              <a:rPr lang="en-US" sz="2800" u="sng" dirty="0">
                <a:latin typeface="Open Sans" panose="020B0606030504020204" pitchFamily="34" charset="0"/>
                <a:ea typeface="Open Sans" panose="020B0606030504020204" pitchFamily="34" charset="0"/>
                <a:cs typeface="Open Sans" panose="020B0606030504020204" pitchFamily="34" charset="0"/>
              </a:rPr>
              <a:t> achieved the highest F1-score (82%)</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Haider et al. (2024):</a:t>
            </a:r>
            <a:r>
              <a:rPr lang="en-US" sz="2800" dirty="0">
                <a:latin typeface="Open Sans" panose="020B0606030504020204" pitchFamily="34" charset="0"/>
                <a:ea typeface="Open Sans" panose="020B0606030504020204" pitchFamily="34" charset="0"/>
                <a:cs typeface="Open Sans" panose="020B0606030504020204" pitchFamily="34" charset="0"/>
              </a:rPr>
              <a:t> Introduced a multi-label hate speech dataset for </a:t>
            </a:r>
            <a:r>
              <a:rPr lang="en-US" sz="2800" dirty="0" err="1">
                <a:latin typeface="Open Sans" panose="020B0606030504020204" pitchFamily="34" charset="0"/>
                <a:ea typeface="Open Sans" panose="020B0606030504020204" pitchFamily="34" charset="0"/>
                <a:cs typeface="Open Sans" panose="020B0606030504020204" pitchFamily="34" charset="0"/>
              </a:rPr>
              <a:t>Banglish</a:t>
            </a:r>
            <a:r>
              <a:rPr lang="en-US" sz="2800" dirty="0">
                <a:latin typeface="Open Sans" panose="020B0606030504020204" pitchFamily="34" charset="0"/>
                <a:ea typeface="Open Sans" panose="020B0606030504020204" pitchFamily="34" charset="0"/>
                <a:cs typeface="Open Sans" panose="020B0606030504020204" pitchFamily="34" charset="0"/>
              </a:rPr>
              <a:t>. </a:t>
            </a:r>
            <a:r>
              <a:rPr lang="en-US" sz="2800" u="sng" dirty="0">
                <a:latin typeface="Open Sans" panose="020B0606030504020204" pitchFamily="34" charset="0"/>
                <a:ea typeface="Open Sans" panose="020B0606030504020204" pitchFamily="34" charset="0"/>
                <a:cs typeface="Open Sans" panose="020B0606030504020204" pitchFamily="34" charset="0"/>
              </a:rPr>
              <a:t>TB-</a:t>
            </a:r>
            <a:r>
              <a:rPr lang="en-US" sz="2800" u="sng" dirty="0" err="1">
                <a:latin typeface="Open Sans" panose="020B0606030504020204" pitchFamily="34" charset="0"/>
                <a:ea typeface="Open Sans" panose="020B0606030504020204" pitchFamily="34" charset="0"/>
                <a:cs typeface="Open Sans" panose="020B0606030504020204" pitchFamily="34" charset="0"/>
              </a:rPr>
              <a:t>mBERT</a:t>
            </a:r>
            <a:r>
              <a:rPr lang="en-US" sz="2800" u="sng" dirty="0">
                <a:latin typeface="Open Sans" panose="020B0606030504020204" pitchFamily="34" charset="0"/>
                <a:ea typeface="Open Sans" panose="020B0606030504020204" pitchFamily="34" charset="0"/>
                <a:cs typeface="Open Sans" panose="020B0606030504020204" pitchFamily="34" charset="0"/>
              </a:rPr>
              <a:t> achieved 82.57%</a:t>
            </a:r>
            <a:r>
              <a:rPr lang="en-US" sz="2800" dirty="0">
                <a:latin typeface="Open Sans" panose="020B0606030504020204" pitchFamily="34" charset="0"/>
                <a:ea typeface="Open Sans" panose="020B0606030504020204" pitchFamily="34" charset="0"/>
                <a:cs typeface="Open Sans" panose="020B0606030504020204" pitchFamily="34" charset="0"/>
              </a:rPr>
              <a:t> accuracy for binary classification, while BanglaBERT performed best for multi-label classification (54.08%).</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Akter et al. (2024):</a:t>
            </a:r>
            <a:r>
              <a:rPr lang="en-US" sz="2800" dirty="0">
                <a:latin typeface="Open Sans" panose="020B0606030504020204" pitchFamily="34" charset="0"/>
                <a:ea typeface="Open Sans" panose="020B0606030504020204" pitchFamily="34" charset="0"/>
                <a:cs typeface="Open Sans" panose="020B0606030504020204" pitchFamily="34" charset="0"/>
              </a:rPr>
              <a:t> Proposed a hybrid deep learning model (BERT + </a:t>
            </a:r>
            <a:r>
              <a:rPr lang="en-US" sz="2800" dirty="0" err="1">
                <a:latin typeface="Open Sans" panose="020B0606030504020204" pitchFamily="34" charset="0"/>
                <a:ea typeface="Open Sans" panose="020B0606030504020204" pitchFamily="34" charset="0"/>
                <a:cs typeface="Open Sans" panose="020B0606030504020204" pitchFamily="34" charset="0"/>
              </a:rPr>
              <a:t>BiLSTM</a:t>
            </a:r>
            <a:r>
              <a:rPr lang="en-US" sz="2800" dirty="0">
                <a:latin typeface="Open Sans" panose="020B0606030504020204" pitchFamily="34" charset="0"/>
                <a:ea typeface="Open Sans" panose="020B0606030504020204" pitchFamily="34" charset="0"/>
                <a:cs typeface="Open Sans" panose="020B0606030504020204" pitchFamily="34" charset="0"/>
              </a:rPr>
              <a:t> + SVM). </a:t>
            </a:r>
            <a:r>
              <a:rPr lang="en-US" sz="2800" u="sng" dirty="0">
                <a:latin typeface="Open Sans" panose="020B0606030504020204" pitchFamily="34" charset="0"/>
                <a:ea typeface="Open Sans" panose="020B0606030504020204" pitchFamily="34" charset="0"/>
                <a:cs typeface="Open Sans" panose="020B0606030504020204" pitchFamily="34" charset="0"/>
              </a:rPr>
              <a:t>BERT-CNN hybrid achieved 94.44% accuracy</a:t>
            </a:r>
            <a:r>
              <a:rPr lang="en-US" sz="2800" dirty="0">
                <a:latin typeface="Open Sans" panose="020B0606030504020204" pitchFamily="34" charset="0"/>
                <a:ea typeface="Open Sans" panose="020B0606030504020204" pitchFamily="34" charset="0"/>
                <a:cs typeface="Open Sans" panose="020B0606030504020204" pitchFamily="34" charset="0"/>
              </a:rPr>
              <a:t>, outperforming LSTM and GRU.</a:t>
            </a:r>
          </a:p>
          <a:p>
            <a:pPr marL="342900" indent="-342900">
              <a:buFont typeface="Arial" panose="020B0604020202020204" pitchFamily="34" charset="0"/>
              <a:buChar char="•"/>
            </a:pPr>
            <a:endParaRPr lang="en-US" sz="2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2978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763AC35A-CA52-A778-5FE2-21B9C33D2918}"/>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E60ED2BA-1688-CD7A-D453-84D85BEE77F0}"/>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B29BCA35-02A4-DC87-1944-5A90C454800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6" name="TextBox 16">
              <a:extLst>
                <a:ext uri="{FF2B5EF4-FFF2-40B4-BE49-F238E27FC236}">
                  <a16:creationId xmlns:a16="http://schemas.microsoft.com/office/drawing/2014/main" id="{B7F8A9A5-851E-3554-4150-BC59C8EBB2CF}"/>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CBF26F03-AAFC-BE27-5500-60549B16D35D}"/>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8">
            <a:extLst>
              <a:ext uri="{FF2B5EF4-FFF2-40B4-BE49-F238E27FC236}">
                <a16:creationId xmlns:a16="http://schemas.microsoft.com/office/drawing/2014/main" id="{6C4861F9-5D53-4DEA-FCCF-F349D251B69F}"/>
              </a:ext>
            </a:extLst>
          </p:cNvPr>
          <p:cNvSpPr txBox="1"/>
          <p:nvPr/>
        </p:nvSpPr>
        <p:spPr>
          <a:xfrm>
            <a:off x="2109620" y="1112883"/>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Dataset</a:t>
            </a:r>
          </a:p>
        </p:txBody>
      </p:sp>
      <p:sp>
        <p:nvSpPr>
          <p:cNvPr id="35" name="TextBox 34">
            <a:extLst>
              <a:ext uri="{FF2B5EF4-FFF2-40B4-BE49-F238E27FC236}">
                <a16:creationId xmlns:a16="http://schemas.microsoft.com/office/drawing/2014/main" id="{13E49938-B53C-0D0F-8B07-C36BD3457631}"/>
              </a:ext>
            </a:extLst>
          </p:cNvPr>
          <p:cNvSpPr txBox="1"/>
          <p:nvPr/>
        </p:nvSpPr>
        <p:spPr>
          <a:xfrm>
            <a:off x="3044582" y="2776532"/>
            <a:ext cx="10439400" cy="2862322"/>
          </a:xfrm>
          <a:prstGeom prst="rect">
            <a:avLst/>
          </a:prstGeom>
          <a:noFill/>
        </p:spPr>
        <p:txBody>
          <a:bodyPr wrap="square">
            <a:spAutoFit/>
          </a:bodyPr>
          <a:lstStyle/>
          <a:p>
            <a:pPr marL="457200" indent="-457200">
              <a:buFont typeface="Arial" panose="020B0604020202020204" pitchFamily="34" charset="0"/>
              <a:buChar char="•"/>
            </a:pPr>
            <a:r>
              <a:rPr lang="en-US" sz="3600" dirty="0">
                <a:latin typeface="Open Sans" panose="020B0606030504020204" pitchFamily="34" charset="0"/>
                <a:ea typeface="Open Sans" panose="020B0606030504020204" pitchFamily="34" charset="0"/>
                <a:cs typeface="Open Sans" panose="020B0606030504020204" pitchFamily="34" charset="0"/>
              </a:rPr>
              <a:t> Contains </a:t>
            </a:r>
            <a:r>
              <a:rPr lang="en-US" sz="3600" b="1" dirty="0">
                <a:latin typeface="Open Sans" panose="020B0606030504020204" pitchFamily="34" charset="0"/>
                <a:ea typeface="Open Sans" panose="020B0606030504020204" pitchFamily="34" charset="0"/>
                <a:cs typeface="Open Sans" panose="020B0606030504020204" pitchFamily="34" charset="0"/>
              </a:rPr>
              <a:t>30,000</a:t>
            </a:r>
            <a:r>
              <a:rPr lang="en-US" sz="3600" dirty="0">
                <a:latin typeface="Open Sans" panose="020B0606030504020204" pitchFamily="34" charset="0"/>
                <a:ea typeface="Open Sans" panose="020B0606030504020204" pitchFamily="34" charset="0"/>
                <a:cs typeface="Open Sans" panose="020B0606030504020204" pitchFamily="34" charset="0"/>
              </a:rPr>
              <a:t> labeled sentences ("hate" &amp; "no hate").</a:t>
            </a:r>
          </a:p>
          <a:p>
            <a:pPr marL="457200" indent="-457200">
              <a:buFont typeface="Arial" panose="020B0604020202020204" pitchFamily="34" charset="0"/>
              <a:buChar char="•"/>
            </a:pPr>
            <a:r>
              <a:rPr lang="en-US" sz="3600" b="1" dirty="0">
                <a:latin typeface="Open Sans" panose="020B0606030504020204" pitchFamily="34" charset="0"/>
                <a:ea typeface="Open Sans" panose="020B0606030504020204" pitchFamily="34" charset="0"/>
                <a:cs typeface="Open Sans" panose="020B0606030504020204" pitchFamily="34" charset="0"/>
              </a:rPr>
              <a:t>Imbalanced dataset</a:t>
            </a:r>
            <a:r>
              <a:rPr lang="en-US" sz="3600" dirty="0">
                <a:latin typeface="Open Sans" panose="020B0606030504020204" pitchFamily="34" charset="0"/>
                <a:ea typeface="Open Sans" panose="020B0606030504020204" pitchFamily="34" charset="0"/>
                <a:cs typeface="Open Sans" panose="020B0606030504020204" pitchFamily="34" charset="0"/>
              </a:rPr>
              <a:t> (20,000 "no hate" vs. 10,000 "hate").</a:t>
            </a:r>
          </a:p>
          <a:p>
            <a:pPr marL="457200" indent="-457200">
              <a:buFont typeface="Arial" panose="020B0604020202020204" pitchFamily="34" charset="0"/>
              <a:buChar char="•"/>
            </a:pPr>
            <a:r>
              <a:rPr lang="en-US" sz="3600" b="1" dirty="0">
                <a:latin typeface="Open Sans" panose="020B0606030504020204" pitchFamily="34" charset="0"/>
                <a:ea typeface="Open Sans" panose="020B0606030504020204" pitchFamily="34" charset="0"/>
                <a:cs typeface="Open Sans" panose="020B0606030504020204" pitchFamily="34" charset="0"/>
              </a:rPr>
              <a:t>Split</a:t>
            </a:r>
            <a:r>
              <a:rPr lang="en-US" sz="3600" dirty="0">
                <a:latin typeface="Open Sans" panose="020B0606030504020204" pitchFamily="34" charset="0"/>
                <a:ea typeface="Open Sans" panose="020B0606030504020204" pitchFamily="34" charset="0"/>
                <a:cs typeface="Open Sans" panose="020B0606030504020204" pitchFamily="34" charset="0"/>
              </a:rPr>
              <a:t> into </a:t>
            </a:r>
            <a:r>
              <a:rPr lang="en-US" sz="3600" b="1" dirty="0">
                <a:latin typeface="Open Sans" panose="020B0606030504020204" pitchFamily="34" charset="0"/>
                <a:ea typeface="Open Sans" panose="020B0606030504020204" pitchFamily="34" charset="0"/>
                <a:cs typeface="Open Sans" panose="020B0606030504020204" pitchFamily="34" charset="0"/>
              </a:rPr>
              <a:t>training (80%)</a:t>
            </a:r>
            <a:r>
              <a:rPr lang="en-US" sz="3600" dirty="0">
                <a:latin typeface="Open Sans" panose="020B0606030504020204" pitchFamily="34" charset="0"/>
                <a:ea typeface="Open Sans" panose="020B0606030504020204" pitchFamily="34" charset="0"/>
                <a:cs typeface="Open Sans" panose="020B0606030504020204" pitchFamily="34" charset="0"/>
              </a:rPr>
              <a:t> and </a:t>
            </a:r>
            <a:r>
              <a:rPr lang="en-US" sz="3600" b="1" dirty="0">
                <a:latin typeface="Open Sans" panose="020B0606030504020204" pitchFamily="34" charset="0"/>
                <a:ea typeface="Open Sans" panose="020B0606030504020204" pitchFamily="34" charset="0"/>
                <a:cs typeface="Open Sans" panose="020B0606030504020204" pitchFamily="34" charset="0"/>
              </a:rPr>
              <a:t>testing (20%)</a:t>
            </a:r>
            <a:r>
              <a:rPr lang="en-US" sz="3600" dirty="0">
                <a:latin typeface="Open Sans" panose="020B0606030504020204" pitchFamily="34" charset="0"/>
                <a:ea typeface="Open Sans" panose="020B0606030504020204" pitchFamily="34" charset="0"/>
                <a:cs typeface="Open Sans" panose="020B0606030504020204" pitchFamily="34" charset="0"/>
              </a:rPr>
              <a:t>.</a:t>
            </a:r>
            <a:endParaRPr lang="en-US" sz="3200" dirty="0">
              <a:latin typeface="Open Sans" panose="020B0606030504020204" pitchFamily="34" charset="0"/>
              <a:ea typeface="Open Sans" panose="020B0606030504020204" pitchFamily="34" charset="0"/>
              <a:cs typeface="Open Sans" panose="020B0606030504020204" pitchFamily="3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3200" y="5628001"/>
            <a:ext cx="5353050" cy="3630299"/>
          </a:xfrm>
          <a:prstGeom prst="rect">
            <a:avLst/>
          </a:prstGeom>
        </p:spPr>
      </p:pic>
    </p:spTree>
    <p:extLst>
      <p:ext uri="{BB962C8B-B14F-4D97-AF65-F5344CB8AC3E}">
        <p14:creationId xmlns:p14="http://schemas.microsoft.com/office/powerpoint/2010/main" val="1288920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C59C85F3-89B1-52CC-07C7-9331171DD98E}"/>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007AE996-F5CC-0B54-4B94-653D097817D1}"/>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B2146D17-A4BA-3F8C-E3EB-A6A2B14685F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6" name="TextBox 16">
              <a:extLst>
                <a:ext uri="{FF2B5EF4-FFF2-40B4-BE49-F238E27FC236}">
                  <a16:creationId xmlns:a16="http://schemas.microsoft.com/office/drawing/2014/main" id="{A5D798F7-DC2E-EE11-8CF3-030195435FCE}"/>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25D74204-1A99-2071-50F8-A54E181EED33}"/>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8">
            <a:extLst>
              <a:ext uri="{FF2B5EF4-FFF2-40B4-BE49-F238E27FC236}">
                <a16:creationId xmlns:a16="http://schemas.microsoft.com/office/drawing/2014/main" id="{BB8812EA-5B35-A820-BC5C-BEE2402F94E4}"/>
              </a:ext>
            </a:extLst>
          </p:cNvPr>
          <p:cNvSpPr txBox="1"/>
          <p:nvPr/>
        </p:nvSpPr>
        <p:spPr>
          <a:xfrm>
            <a:off x="1600200" y="836994"/>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Data Preprocessing</a:t>
            </a:r>
          </a:p>
        </p:txBody>
      </p:sp>
      <p:sp>
        <p:nvSpPr>
          <p:cNvPr id="35" name="TextBox 34">
            <a:extLst>
              <a:ext uri="{FF2B5EF4-FFF2-40B4-BE49-F238E27FC236}">
                <a16:creationId xmlns:a16="http://schemas.microsoft.com/office/drawing/2014/main" id="{FFDDEE8E-3CE3-7670-AB70-5270E645DD77}"/>
              </a:ext>
            </a:extLst>
          </p:cNvPr>
          <p:cNvSpPr txBox="1"/>
          <p:nvPr/>
        </p:nvSpPr>
        <p:spPr>
          <a:xfrm>
            <a:off x="2514600" y="2487210"/>
            <a:ext cx="11582400" cy="5663089"/>
          </a:xfrm>
          <a:prstGeom prst="rect">
            <a:avLst/>
          </a:prstGeom>
          <a:noFill/>
        </p:spPr>
        <p:txBody>
          <a:bodyPr wrap="square">
            <a:spAutoFit/>
          </a:bodyPr>
          <a:lstStyle/>
          <a:p>
            <a:pPr>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Text Cleaning:</a:t>
            </a:r>
            <a:r>
              <a:rPr lang="en-US" sz="2800" dirty="0">
                <a:latin typeface="Open Sans" panose="020B0606030504020204" pitchFamily="34" charset="0"/>
                <a:ea typeface="Open Sans" panose="020B0606030504020204" pitchFamily="34" charset="0"/>
                <a:cs typeface="Open Sans" panose="020B0606030504020204" pitchFamily="34" charset="0"/>
              </a:rPr>
              <a:t> Removed unwanted characters, symbols, English words, numbers, and extra spaces to retain only Bengali text.</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Tokenization:</a:t>
            </a:r>
            <a:r>
              <a:rPr lang="en-US" sz="2800" dirty="0">
                <a:latin typeface="Open Sans" panose="020B0606030504020204" pitchFamily="34" charset="0"/>
                <a:ea typeface="Open Sans" panose="020B0606030504020204" pitchFamily="34" charset="0"/>
                <a:cs typeface="Open Sans" panose="020B0606030504020204" pitchFamily="34" charset="0"/>
              </a:rPr>
              <a:t> Used the </a:t>
            </a:r>
            <a:r>
              <a:rPr lang="en-US" sz="2800" b="1" dirty="0">
                <a:latin typeface="Open Sans" panose="020B0606030504020204" pitchFamily="34" charset="0"/>
                <a:ea typeface="Open Sans" panose="020B0606030504020204" pitchFamily="34" charset="0"/>
                <a:cs typeface="Open Sans" panose="020B0606030504020204" pitchFamily="34" charset="0"/>
              </a:rPr>
              <a:t>Indic NLP library</a:t>
            </a:r>
            <a:r>
              <a:rPr lang="en-US" sz="2800" dirty="0">
                <a:latin typeface="Open Sans" panose="020B0606030504020204" pitchFamily="34" charset="0"/>
                <a:ea typeface="Open Sans" panose="020B0606030504020204" pitchFamily="34" charset="0"/>
                <a:cs typeface="Open Sans" panose="020B0606030504020204" pitchFamily="34" charset="0"/>
              </a:rPr>
              <a:t> to break text into words.</a:t>
            </a:r>
          </a:p>
          <a:p>
            <a:pPr>
              <a:buFont typeface="Arial" panose="020B0604020202020204" pitchFamily="34" charset="0"/>
              <a:buChar char="•"/>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Stopword Removal:</a:t>
            </a:r>
            <a:r>
              <a:rPr lang="en-US" sz="2800" dirty="0">
                <a:latin typeface="Open Sans" panose="020B0606030504020204" pitchFamily="34" charset="0"/>
                <a:ea typeface="Open Sans" panose="020B0606030504020204" pitchFamily="34" charset="0"/>
                <a:cs typeface="Open Sans" panose="020B0606030504020204" pitchFamily="34" charset="0"/>
              </a:rPr>
              <a:t> Applied </a:t>
            </a:r>
            <a:r>
              <a:rPr lang="en-US" sz="2800" b="1" dirty="0">
                <a:latin typeface="Open Sans" panose="020B0606030504020204" pitchFamily="34" charset="0"/>
                <a:ea typeface="Open Sans" panose="020B0606030504020204" pitchFamily="34" charset="0"/>
                <a:cs typeface="Open Sans" panose="020B0606030504020204" pitchFamily="34" charset="0"/>
              </a:rPr>
              <a:t>NLTK stopwords list</a:t>
            </a:r>
            <a:r>
              <a:rPr lang="en-US" sz="2800" dirty="0">
                <a:latin typeface="Open Sans" panose="020B0606030504020204" pitchFamily="34" charset="0"/>
                <a:ea typeface="Open Sans" panose="020B0606030504020204" pitchFamily="34" charset="0"/>
                <a:cs typeface="Open Sans" panose="020B0606030504020204" pitchFamily="34" charset="0"/>
              </a:rPr>
              <a:t> </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Encoding:</a:t>
            </a:r>
            <a:r>
              <a:rPr lang="en-US" sz="2800" dirty="0">
                <a:latin typeface="Open Sans" panose="020B0606030504020204" pitchFamily="34" charset="0"/>
                <a:ea typeface="Open Sans" panose="020B0606030504020204" pitchFamily="34" charset="0"/>
                <a:cs typeface="Open Sans" panose="020B0606030504020204" pitchFamily="34" charset="0"/>
              </a:rPr>
              <a:t> Converted tokenized text into numerical representations for transformer models</a:t>
            </a:r>
          </a:p>
          <a:p>
            <a:pPr>
              <a:buFont typeface="Arial" panose="020B0604020202020204" pitchFamily="34" charset="0"/>
              <a:buChar char="•"/>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 </a:t>
            </a:r>
            <a:r>
              <a:rPr lang="en-US" sz="2800" b="1" dirty="0">
                <a:latin typeface="Open Sans" panose="020B0606030504020204" pitchFamily="34" charset="0"/>
                <a:ea typeface="Open Sans" panose="020B0606030504020204" pitchFamily="34" charset="0"/>
                <a:cs typeface="Open Sans" panose="020B0606030504020204" pitchFamily="34" charset="0"/>
              </a:rPr>
              <a:t>Balanced Class Distribution:</a:t>
            </a:r>
            <a:r>
              <a:rPr lang="en-US" sz="2800" dirty="0">
                <a:latin typeface="Open Sans" panose="020B0606030504020204" pitchFamily="34" charset="0"/>
                <a:ea typeface="Open Sans" panose="020B0606030504020204" pitchFamily="34" charset="0"/>
                <a:cs typeface="Open Sans" panose="020B0606030504020204" pitchFamily="34" charset="0"/>
              </a:rPr>
              <a:t> Addressed dataset imbalance (20,000 "no hate" vs. 10,000 "hate") to improve model learning.</a:t>
            </a:r>
          </a:p>
          <a:p>
            <a:pPr marL="342900" indent="-342900">
              <a:buFont typeface="Arial" panose="020B0604020202020204" pitchFamily="34" charset="0"/>
              <a:buChar char="•"/>
            </a:pPr>
            <a:endParaRPr lang="en-US" sz="2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05651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F8901-4F34-5018-44DA-57F19602CE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39F6C63-A717-5064-2248-24499418EE1F}"/>
              </a:ext>
            </a:extLst>
          </p:cNvPr>
          <p:cNvSpPr/>
          <p:nvPr/>
        </p:nvSpPr>
        <p:spPr>
          <a:xfrm>
            <a:off x="311936" y="4074822"/>
            <a:ext cx="5062925" cy="6212178"/>
          </a:xfrm>
          <a:custGeom>
            <a:avLst/>
            <a:gdLst/>
            <a:ahLst/>
            <a:cxnLst/>
            <a:rect l="l" t="t" r="r" b="b"/>
            <a:pathLst>
              <a:path w="5062925" h="6212178">
                <a:moveTo>
                  <a:pt x="0" y="0"/>
                </a:moveTo>
                <a:lnTo>
                  <a:pt x="5062925" y="0"/>
                </a:lnTo>
                <a:lnTo>
                  <a:pt x="5062925" y="6212178"/>
                </a:lnTo>
                <a:lnTo>
                  <a:pt x="0" y="621217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a:extLst>
              <a:ext uri="{FF2B5EF4-FFF2-40B4-BE49-F238E27FC236}">
                <a16:creationId xmlns:a16="http://schemas.microsoft.com/office/drawing/2014/main" id="{115BD831-C551-D8A7-C156-703144E2669C}"/>
              </a:ext>
            </a:extLst>
          </p:cNvPr>
          <p:cNvGrpSpPr/>
          <p:nvPr/>
        </p:nvGrpSpPr>
        <p:grpSpPr>
          <a:xfrm>
            <a:off x="16009094" y="-427225"/>
            <a:ext cx="2278906" cy="2278906"/>
            <a:chOff x="0" y="0"/>
            <a:chExt cx="812800" cy="812800"/>
          </a:xfrm>
        </p:grpSpPr>
        <p:sp>
          <p:nvSpPr>
            <p:cNvPr id="4" name="Freeform 4">
              <a:extLst>
                <a:ext uri="{FF2B5EF4-FFF2-40B4-BE49-F238E27FC236}">
                  <a16:creationId xmlns:a16="http://schemas.microsoft.com/office/drawing/2014/main" id="{6E7C26F4-D0D5-E443-5808-2547A8A4737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59FF"/>
            </a:solidFill>
          </p:spPr>
        </p:sp>
        <p:sp>
          <p:nvSpPr>
            <p:cNvPr id="5" name="TextBox 5">
              <a:extLst>
                <a:ext uri="{FF2B5EF4-FFF2-40B4-BE49-F238E27FC236}">
                  <a16:creationId xmlns:a16="http://schemas.microsoft.com/office/drawing/2014/main" id="{990D6A55-7AC1-9653-D26F-96251829D9D1}"/>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8" name="TextBox 8">
            <a:extLst>
              <a:ext uri="{FF2B5EF4-FFF2-40B4-BE49-F238E27FC236}">
                <a16:creationId xmlns:a16="http://schemas.microsoft.com/office/drawing/2014/main" id="{11DD4B93-8E3F-006A-3B08-180BF5A67E8B}"/>
              </a:ext>
            </a:extLst>
          </p:cNvPr>
          <p:cNvSpPr txBox="1"/>
          <p:nvPr/>
        </p:nvSpPr>
        <p:spPr>
          <a:xfrm>
            <a:off x="1219200" y="1409700"/>
            <a:ext cx="12988035" cy="1226820"/>
          </a:xfrm>
          <a:prstGeom prst="rect">
            <a:avLst/>
          </a:prstGeom>
        </p:spPr>
        <p:txBody>
          <a:bodyPr lIns="0" tIns="0" rIns="0" bIns="0" rtlCol="0" anchor="t">
            <a:spAutoFit/>
          </a:bodyPr>
          <a:lstStyle/>
          <a:p>
            <a:pPr marL="0" lvl="0" indent="0" algn="l">
              <a:lnSpc>
                <a:spcPts val="10080"/>
              </a:lnSpc>
              <a:spcBef>
                <a:spcPct val="0"/>
              </a:spcBef>
            </a:pPr>
            <a:r>
              <a:rPr lang="en-US" sz="7200" dirty="0">
                <a:solidFill>
                  <a:srgbClr val="272727"/>
                </a:solidFill>
                <a:latin typeface="Segoe UI Black" panose="020B0A02040204020203" pitchFamily="34" charset="0"/>
                <a:ea typeface="Segoe UI Black" panose="020B0A02040204020203" pitchFamily="34" charset="0"/>
                <a:cs typeface="League Spartan"/>
                <a:sym typeface="League Spartan"/>
              </a:rPr>
              <a:t>Methodology</a:t>
            </a:r>
          </a:p>
        </p:txBody>
      </p:sp>
      <p:grpSp>
        <p:nvGrpSpPr>
          <p:cNvPr id="13" name="Group 13">
            <a:extLst>
              <a:ext uri="{FF2B5EF4-FFF2-40B4-BE49-F238E27FC236}">
                <a16:creationId xmlns:a16="http://schemas.microsoft.com/office/drawing/2014/main" id="{EF2FC893-889D-4AA2-805D-D279D5A1DDB0}"/>
              </a:ext>
            </a:extLst>
          </p:cNvPr>
          <p:cNvGrpSpPr/>
          <p:nvPr/>
        </p:nvGrpSpPr>
        <p:grpSpPr>
          <a:xfrm>
            <a:off x="16403245" y="-507343"/>
            <a:ext cx="2278906" cy="2278906"/>
            <a:chOff x="0" y="0"/>
            <a:chExt cx="812800" cy="812800"/>
          </a:xfrm>
        </p:grpSpPr>
        <p:sp>
          <p:nvSpPr>
            <p:cNvPr id="14" name="Freeform 14">
              <a:extLst>
                <a:ext uri="{FF2B5EF4-FFF2-40B4-BE49-F238E27FC236}">
                  <a16:creationId xmlns:a16="http://schemas.microsoft.com/office/drawing/2014/main" id="{4D19D3C3-AD4C-6179-B087-961F6D431F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0000"/>
            </a:solidFill>
          </p:spPr>
        </p:sp>
        <p:sp>
          <p:nvSpPr>
            <p:cNvPr id="15" name="TextBox 15">
              <a:extLst>
                <a:ext uri="{FF2B5EF4-FFF2-40B4-BE49-F238E27FC236}">
                  <a16:creationId xmlns:a16="http://schemas.microsoft.com/office/drawing/2014/main" id="{5F4CE851-3CCF-E151-D733-A3BD9250A3C2}"/>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dirty="0"/>
            </a:p>
          </p:txBody>
        </p:sp>
      </p:grpSp>
      <p:sp>
        <p:nvSpPr>
          <p:cNvPr id="7" name="TextBox 6">
            <a:extLst>
              <a:ext uri="{FF2B5EF4-FFF2-40B4-BE49-F238E27FC236}">
                <a16:creationId xmlns:a16="http://schemas.microsoft.com/office/drawing/2014/main" id="{CE76F59A-9518-A0CB-35EE-DF284FCAFEC7}"/>
              </a:ext>
            </a:extLst>
          </p:cNvPr>
          <p:cNvSpPr txBox="1"/>
          <p:nvPr/>
        </p:nvSpPr>
        <p:spPr>
          <a:xfrm>
            <a:off x="2438400" y="2674620"/>
            <a:ext cx="12573000" cy="4401205"/>
          </a:xfrm>
          <a:prstGeom prst="rect">
            <a:avLst/>
          </a:prstGeom>
          <a:noFill/>
        </p:spPr>
        <p:txBody>
          <a:bodyPr wrap="square">
            <a:spAutoFit/>
          </a:bodyPr>
          <a:lstStyle/>
          <a:p>
            <a:pPr marL="514350" marR="0" lvl="0" indent="-514350" algn="l" defTabSz="914400" rtl="0" eaLnBrk="1" fontAlgn="auto" latinLnBrk="0" hangingPunct="1">
              <a:lnSpc>
                <a:spcPts val="4759"/>
              </a:lnSpc>
              <a:spcBef>
                <a:spcPts val="0"/>
              </a:spcBef>
              <a:spcAft>
                <a:spcPts val="0"/>
              </a:spcAft>
              <a:buClrTx/>
              <a:buSzTx/>
              <a:buFont typeface="+mj-lt"/>
              <a:buAutoNum type="arabicPeriod"/>
              <a:tabLst/>
              <a:defRPr/>
            </a:pP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Machine Learning Models</a:t>
            </a:r>
          </a:p>
          <a:p>
            <a:pPr marL="800100" lvl="1" indent="-342900">
              <a:lnSpc>
                <a:spcPts val="4759"/>
              </a:lnSpc>
              <a:buFont typeface="Arial" panose="020B0604020202020204" pitchFamily="34" charset="0"/>
              <a:buChar char="•"/>
              <a:defRPr/>
            </a:pP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Applied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SVM</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Naïve Bayes</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Gradient Boosting </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KNN</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2400" b="1" i="0" u="none" strike="noStrike" kern="1200" cap="none" spc="0" normalizeH="0" baseline="0" noProof="0" dirty="0" err="1">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XGBoost</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for classification.</a:t>
            </a:r>
          </a:p>
          <a:p>
            <a:pPr marL="800100" lvl="1" indent="-342900">
              <a:lnSpc>
                <a:spcPts val="4759"/>
              </a:lnSpc>
              <a:buFont typeface="Arial" panose="020B0604020202020204" pitchFamily="34" charset="0"/>
              <a:buChar char="•"/>
              <a:defRPr/>
            </a:pP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Traditional ML models struggled with language complexity and class imbalance.</a:t>
            </a:r>
          </a:p>
          <a:p>
            <a:pPr marL="514350" marR="0" lvl="0" indent="-514350" algn="l" defTabSz="914400" rtl="0" eaLnBrk="1" fontAlgn="auto" latinLnBrk="0" hangingPunct="1">
              <a:lnSpc>
                <a:spcPts val="4759"/>
              </a:lnSpc>
              <a:spcBef>
                <a:spcPts val="0"/>
              </a:spcBef>
              <a:spcAft>
                <a:spcPts val="0"/>
              </a:spcAft>
              <a:buClrTx/>
              <a:buSzTx/>
              <a:buFont typeface="+mj-lt"/>
              <a:buAutoNum type="arabicPeriod"/>
              <a:tabLst/>
              <a:defRPr/>
            </a:pP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Transformer-Based Models</a:t>
            </a:r>
          </a:p>
          <a:p>
            <a:pPr marL="800100" lvl="1" indent="-342900">
              <a:lnSpc>
                <a:spcPts val="4759"/>
              </a:lnSpc>
              <a:buFont typeface="Arial" panose="020B0604020202020204" pitchFamily="34" charset="0"/>
              <a:buChar char="•"/>
              <a:defRPr/>
            </a:pPr>
            <a:r>
              <a:rPr kumimoji="0" lang="en-US" sz="2400" b="1" i="0" u="none" strike="noStrike" kern="1200" cap="none" spc="0" normalizeH="0" baseline="0" noProof="0" dirty="0" err="1">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BanglaBERT</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Language-specific model trained on large-scale Bengali text.</a:t>
            </a:r>
          </a:p>
          <a:p>
            <a:pPr marL="800100" lvl="1" indent="-342900">
              <a:lnSpc>
                <a:spcPts val="4759"/>
              </a:lnSpc>
              <a:buFont typeface="Arial" panose="020B0604020202020204" pitchFamily="34" charset="0"/>
              <a:buChar char="•"/>
              <a:defRPr/>
            </a:pPr>
            <a:r>
              <a:rPr kumimoji="0" lang="en-US" sz="2400" b="1" i="0" u="none" strike="noStrike" kern="1200" cap="none" spc="0" normalizeH="0" baseline="0" noProof="0" dirty="0" err="1">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mBERT</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Multilingual BERT model tested in cased &amp; uncased versions.</a:t>
            </a:r>
          </a:p>
          <a:p>
            <a:pPr marL="800100" lvl="1" indent="-342900">
              <a:lnSpc>
                <a:spcPts val="4759"/>
              </a:lnSpc>
              <a:buFont typeface="Arial" panose="020B0604020202020204" pitchFamily="34" charset="0"/>
              <a:buChar char="•"/>
              <a:defRPr/>
            </a:pP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XLM-</a:t>
            </a:r>
            <a:r>
              <a:rPr kumimoji="0" lang="en-US" sz="2400" b="1" i="0" u="none" strike="noStrike" kern="1200" cap="none" spc="0" normalizeH="0" baseline="0" noProof="0" dirty="0" err="1">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RoBERTa</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Cross-lingual model optimized for code-mixed Bengali text.</a:t>
            </a:r>
          </a:p>
        </p:txBody>
      </p:sp>
    </p:spTree>
    <p:extLst>
      <p:ext uri="{BB962C8B-B14F-4D97-AF65-F5344CB8AC3E}">
        <p14:creationId xmlns:p14="http://schemas.microsoft.com/office/powerpoint/2010/main" val="1366169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63405-E022-D2C0-FBE3-4F4CB25EFC2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5AA8A1-D54B-64F9-7F90-0D98B7B4EC80}"/>
              </a:ext>
            </a:extLst>
          </p:cNvPr>
          <p:cNvSpPr/>
          <p:nvPr/>
        </p:nvSpPr>
        <p:spPr>
          <a:xfrm>
            <a:off x="311936" y="4074822"/>
            <a:ext cx="5062925" cy="6212178"/>
          </a:xfrm>
          <a:custGeom>
            <a:avLst/>
            <a:gdLst/>
            <a:ahLst/>
            <a:cxnLst/>
            <a:rect l="l" t="t" r="r" b="b"/>
            <a:pathLst>
              <a:path w="5062925" h="6212178">
                <a:moveTo>
                  <a:pt x="0" y="0"/>
                </a:moveTo>
                <a:lnTo>
                  <a:pt x="5062925" y="0"/>
                </a:lnTo>
                <a:lnTo>
                  <a:pt x="5062925" y="6212178"/>
                </a:lnTo>
                <a:lnTo>
                  <a:pt x="0" y="621217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a:extLst>
              <a:ext uri="{FF2B5EF4-FFF2-40B4-BE49-F238E27FC236}">
                <a16:creationId xmlns:a16="http://schemas.microsoft.com/office/drawing/2014/main" id="{53191B7F-92FA-C8B1-F95B-1244E8C839CE}"/>
              </a:ext>
            </a:extLst>
          </p:cNvPr>
          <p:cNvGrpSpPr/>
          <p:nvPr/>
        </p:nvGrpSpPr>
        <p:grpSpPr>
          <a:xfrm>
            <a:off x="16009094" y="-427225"/>
            <a:ext cx="2278906" cy="2278906"/>
            <a:chOff x="0" y="0"/>
            <a:chExt cx="812800" cy="812800"/>
          </a:xfrm>
        </p:grpSpPr>
        <p:sp>
          <p:nvSpPr>
            <p:cNvPr id="4" name="Freeform 4">
              <a:extLst>
                <a:ext uri="{FF2B5EF4-FFF2-40B4-BE49-F238E27FC236}">
                  <a16:creationId xmlns:a16="http://schemas.microsoft.com/office/drawing/2014/main" id="{AA8BF752-829E-5D8D-FE21-52B4CF39C5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59FF"/>
            </a:solidFill>
          </p:spPr>
        </p:sp>
        <p:sp>
          <p:nvSpPr>
            <p:cNvPr id="5" name="TextBox 5">
              <a:extLst>
                <a:ext uri="{FF2B5EF4-FFF2-40B4-BE49-F238E27FC236}">
                  <a16:creationId xmlns:a16="http://schemas.microsoft.com/office/drawing/2014/main" id="{2A13E017-B982-4ACB-259A-5224507929F5}"/>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8" name="TextBox 8">
            <a:extLst>
              <a:ext uri="{FF2B5EF4-FFF2-40B4-BE49-F238E27FC236}">
                <a16:creationId xmlns:a16="http://schemas.microsoft.com/office/drawing/2014/main" id="{A9B569FC-F3A8-3664-4CE6-50053323681F}"/>
              </a:ext>
            </a:extLst>
          </p:cNvPr>
          <p:cNvSpPr txBox="1"/>
          <p:nvPr/>
        </p:nvSpPr>
        <p:spPr>
          <a:xfrm>
            <a:off x="1219200" y="1409700"/>
            <a:ext cx="12988035" cy="1226820"/>
          </a:xfrm>
          <a:prstGeom prst="rect">
            <a:avLst/>
          </a:prstGeom>
        </p:spPr>
        <p:txBody>
          <a:bodyPr lIns="0" tIns="0" rIns="0" bIns="0" rtlCol="0" anchor="t">
            <a:spAutoFit/>
          </a:bodyPr>
          <a:lstStyle/>
          <a:p>
            <a:pPr marL="0" lvl="0" indent="0" algn="l">
              <a:lnSpc>
                <a:spcPts val="10080"/>
              </a:lnSpc>
              <a:spcBef>
                <a:spcPct val="0"/>
              </a:spcBef>
            </a:pPr>
            <a:r>
              <a:rPr lang="en-US" sz="7200" dirty="0">
                <a:solidFill>
                  <a:srgbClr val="272727"/>
                </a:solidFill>
                <a:latin typeface="Segoe UI Black" panose="020B0A02040204020203" pitchFamily="34" charset="0"/>
                <a:ea typeface="Segoe UI Black" panose="020B0A02040204020203" pitchFamily="34" charset="0"/>
                <a:cs typeface="League Spartan"/>
                <a:sym typeface="League Spartan"/>
              </a:rPr>
              <a:t>Methodology</a:t>
            </a:r>
          </a:p>
        </p:txBody>
      </p:sp>
      <p:grpSp>
        <p:nvGrpSpPr>
          <p:cNvPr id="13" name="Group 13">
            <a:extLst>
              <a:ext uri="{FF2B5EF4-FFF2-40B4-BE49-F238E27FC236}">
                <a16:creationId xmlns:a16="http://schemas.microsoft.com/office/drawing/2014/main" id="{9C8DBA31-822D-38A7-E5AC-DD3BF76CBD12}"/>
              </a:ext>
            </a:extLst>
          </p:cNvPr>
          <p:cNvGrpSpPr/>
          <p:nvPr/>
        </p:nvGrpSpPr>
        <p:grpSpPr>
          <a:xfrm>
            <a:off x="16403245" y="-507343"/>
            <a:ext cx="2278906" cy="2278906"/>
            <a:chOff x="0" y="0"/>
            <a:chExt cx="812800" cy="812800"/>
          </a:xfrm>
        </p:grpSpPr>
        <p:sp>
          <p:nvSpPr>
            <p:cNvPr id="14" name="Freeform 14">
              <a:extLst>
                <a:ext uri="{FF2B5EF4-FFF2-40B4-BE49-F238E27FC236}">
                  <a16:creationId xmlns:a16="http://schemas.microsoft.com/office/drawing/2014/main" id="{16B31CC9-CD32-639D-9A87-3D821EC898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0000"/>
            </a:solidFill>
          </p:spPr>
        </p:sp>
        <p:sp>
          <p:nvSpPr>
            <p:cNvPr id="15" name="TextBox 15">
              <a:extLst>
                <a:ext uri="{FF2B5EF4-FFF2-40B4-BE49-F238E27FC236}">
                  <a16:creationId xmlns:a16="http://schemas.microsoft.com/office/drawing/2014/main" id="{0C5B753D-6E80-2DA7-8CC2-7D7C73C778D5}"/>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dirty="0"/>
            </a:p>
          </p:txBody>
        </p:sp>
      </p:grpSp>
      <p:sp>
        <p:nvSpPr>
          <p:cNvPr id="7" name="TextBox 6">
            <a:extLst>
              <a:ext uri="{FF2B5EF4-FFF2-40B4-BE49-F238E27FC236}">
                <a16:creationId xmlns:a16="http://schemas.microsoft.com/office/drawing/2014/main" id="{ED393104-210B-3048-E3A6-DFB35EF5509C}"/>
              </a:ext>
            </a:extLst>
          </p:cNvPr>
          <p:cNvSpPr txBox="1"/>
          <p:nvPr/>
        </p:nvSpPr>
        <p:spPr>
          <a:xfrm>
            <a:off x="1800121" y="3289983"/>
            <a:ext cx="13820879" cy="4326762"/>
          </a:xfrm>
          <a:prstGeom prst="rect">
            <a:avLst/>
          </a:prstGeom>
          <a:noFill/>
        </p:spPr>
        <p:txBody>
          <a:bodyPr wrap="square">
            <a:spAutoFit/>
          </a:bodyPr>
          <a:lstStyle/>
          <a:p>
            <a:pPr marL="457200" marR="0" lvl="0" indent="-457200" algn="l" defTabSz="914400" rtl="0" eaLnBrk="1" fontAlgn="auto" latinLnBrk="0" hangingPunct="1">
              <a:lnSpc>
                <a:spcPts val="4759"/>
              </a:lnSpc>
              <a:spcBef>
                <a:spcPts val="0"/>
              </a:spcBef>
              <a:spcAft>
                <a:spcPts val="0"/>
              </a:spcAft>
              <a:buClrTx/>
              <a:buSzTx/>
              <a:buFont typeface="+mj-lt"/>
              <a:buAutoNum type="arabicPeriod" startAt="3"/>
              <a:tabLst/>
              <a:defRPr/>
            </a:pP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Hyperparameter Tuning</a:t>
            </a:r>
          </a:p>
          <a:p>
            <a:pPr marL="800100" lvl="1" indent="-342900">
              <a:lnSpc>
                <a:spcPts val="4759"/>
              </a:lnSpc>
              <a:buFont typeface="Arial" panose="020B0604020202020204" pitchFamily="34" charset="0"/>
              <a:buChar char="•"/>
              <a:defRPr/>
            </a:pP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Adjusted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learning rates</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batch sizes </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and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optimization strategies </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for better performance.</a:t>
            </a:r>
          </a:p>
          <a:p>
            <a:pPr marL="800100" lvl="1" indent="-342900">
              <a:lnSpc>
                <a:spcPts val="4759"/>
              </a:lnSpc>
              <a:buFont typeface="Arial" panose="020B0604020202020204" pitchFamily="34" charset="0"/>
              <a:buChar char="•"/>
              <a:defRPr/>
            </a:pP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Used </a:t>
            </a:r>
            <a:r>
              <a:rPr kumimoji="0" lang="en-US" sz="2400" b="1" i="0" u="none" strike="noStrike" kern="1200" cap="none" spc="0" normalizeH="0" baseline="0" noProof="0" dirty="0" err="1">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AdamW</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optimizer </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and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weighted cross-entropy </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to handle class imbalance.</a:t>
            </a:r>
          </a:p>
          <a:p>
            <a:pPr marL="457200" marR="0" lvl="0" indent="-457200" algn="l" defTabSz="914400" rtl="0" eaLnBrk="1" fontAlgn="auto" latinLnBrk="0" hangingPunct="1">
              <a:lnSpc>
                <a:spcPts val="4759"/>
              </a:lnSpc>
              <a:spcBef>
                <a:spcPts val="0"/>
              </a:spcBef>
              <a:spcAft>
                <a:spcPts val="0"/>
              </a:spcAft>
              <a:buClrTx/>
              <a:buSzTx/>
              <a:buFont typeface="+mj-lt"/>
              <a:buAutoNum type="arabicPeriod" startAt="4"/>
              <a:tabLst/>
              <a:defRPr/>
            </a:pP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Model Evaluation</a:t>
            </a:r>
          </a:p>
          <a:p>
            <a:pPr marL="800100" lvl="1" indent="-342900">
              <a:lnSpc>
                <a:spcPts val="4759"/>
              </a:lnSpc>
              <a:buFont typeface="Arial" panose="020B0604020202020204" pitchFamily="34" charset="0"/>
              <a:buChar char="•"/>
              <a:defRPr/>
            </a:pP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Assessed models using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accuracy</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precision</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recall</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F1-score</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and </a:t>
            </a:r>
            <a:r>
              <a:rPr kumimoji="0" lang="en-US" sz="2400" b="1"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confusion matrix</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a:t>
            </a:r>
          </a:p>
          <a:p>
            <a:pPr marL="800100" lvl="1" indent="-342900">
              <a:lnSpc>
                <a:spcPts val="4759"/>
              </a:lnSpc>
              <a:buFont typeface="Arial" panose="020B0604020202020204" pitchFamily="34" charset="0"/>
              <a:buChar char="•"/>
              <a:defRPr/>
            </a:pP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ML models performed poorly on minority class, while </a:t>
            </a:r>
            <a:r>
              <a:rPr kumimoji="0" lang="en-US" sz="2400" b="1" i="0" u="none" strike="noStrike" kern="1200" cap="none" spc="0" normalizeH="0" baseline="0" noProof="0" dirty="0" err="1">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BanglaBERT</a:t>
            </a:r>
            <a:r>
              <a:rPr kumimoji="0" lang="en-US" sz="2400" i="0" u="none" strike="noStrike" kern="1200" cap="none" spc="0" normalizeH="0" baseline="0" noProof="0" dirty="0">
                <a:ln>
                  <a:noFill/>
                </a:ln>
                <a:solidFill>
                  <a:srgbClr val="404040"/>
                </a:solidFill>
                <a:effectLst/>
                <a:uLnTx/>
                <a:uFillTx/>
                <a:latin typeface="Open Sans" panose="020B0606030504020204" pitchFamily="34" charset="0"/>
                <a:ea typeface="Open Sans" panose="020B0606030504020204" pitchFamily="34" charset="0"/>
                <a:cs typeface="Open Sans" panose="020B0606030504020204" pitchFamily="34" charset="0"/>
              </a:rPr>
              <a:t> outperformed others.</a:t>
            </a:r>
          </a:p>
        </p:txBody>
      </p:sp>
    </p:spTree>
    <p:extLst>
      <p:ext uri="{BB962C8B-B14F-4D97-AF65-F5344CB8AC3E}">
        <p14:creationId xmlns:p14="http://schemas.microsoft.com/office/powerpoint/2010/main" val="1041568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69506-E1A1-0165-DE1B-FAFE638D2DA5}"/>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339F469D-0185-73C1-4B2B-16DAA0BF9421}"/>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193B9B94-A108-9D1A-143B-937DA56157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6" name="TextBox 16">
              <a:extLst>
                <a:ext uri="{FF2B5EF4-FFF2-40B4-BE49-F238E27FC236}">
                  <a16:creationId xmlns:a16="http://schemas.microsoft.com/office/drawing/2014/main" id="{A8336391-0B36-D648-07B2-048D87FC979C}"/>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57A16148-0AC8-C1AF-0103-934DF423612B}"/>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8">
            <a:extLst>
              <a:ext uri="{FF2B5EF4-FFF2-40B4-BE49-F238E27FC236}">
                <a16:creationId xmlns:a16="http://schemas.microsoft.com/office/drawing/2014/main" id="{719C421B-F39B-7447-6B04-609BAB808018}"/>
              </a:ext>
            </a:extLst>
          </p:cNvPr>
          <p:cNvSpPr txBox="1"/>
          <p:nvPr/>
        </p:nvSpPr>
        <p:spPr>
          <a:xfrm>
            <a:off x="1981200" y="1354848"/>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Evaluation Metrics</a:t>
            </a:r>
          </a:p>
        </p:txBody>
      </p:sp>
      <p:sp>
        <p:nvSpPr>
          <p:cNvPr id="8" name="TextBox 24">
            <a:extLst>
              <a:ext uri="{FF2B5EF4-FFF2-40B4-BE49-F238E27FC236}">
                <a16:creationId xmlns:a16="http://schemas.microsoft.com/office/drawing/2014/main" id="{1105DC83-6BF9-F89D-F20B-A18AD1189400}"/>
              </a:ext>
            </a:extLst>
          </p:cNvPr>
          <p:cNvSpPr txBox="1"/>
          <p:nvPr/>
        </p:nvSpPr>
        <p:spPr>
          <a:xfrm>
            <a:off x="3044582" y="3390900"/>
            <a:ext cx="10900018" cy="5662832"/>
          </a:xfrm>
          <a:prstGeom prst="rect">
            <a:avLst/>
          </a:prstGeom>
        </p:spPr>
        <p:txBody>
          <a:bodyPr wrap="square" lIns="0" tIns="0" rIns="0" bIns="0" rtlCol="0" anchor="t">
            <a:spAutoFit/>
          </a:bodyPr>
          <a:lstStyle/>
          <a:p>
            <a:pPr marL="0" lvl="0" indent="0" algn="l">
              <a:lnSpc>
                <a:spcPts val="3739"/>
              </a:lnSpc>
            </a:pPr>
            <a:endParaRPr lang="en-US" sz="2800" b="1" dirty="0">
              <a:solidFill>
                <a:srgbClr val="272727"/>
              </a:solidFill>
              <a:latin typeface="Open Sans" panose="020B0606030504020204" pitchFamily="34" charset="0"/>
              <a:ea typeface="Open Sans" panose="020B0606030504020204" pitchFamily="34" charset="0"/>
              <a:cs typeface="Open Sans" panose="020B0606030504020204" pitchFamily="34" charset="0"/>
              <a:sym typeface="Open Sans Bold"/>
            </a:endParaRPr>
          </a:p>
          <a:p>
            <a:r>
              <a:rPr lang="en-US" sz="2800" b="1" dirty="0">
                <a:latin typeface="Open Sans" panose="020B0606030504020204" pitchFamily="34" charset="0"/>
                <a:ea typeface="Open Sans" panose="020B0606030504020204" pitchFamily="34" charset="0"/>
                <a:cs typeface="Open Sans" panose="020B0606030504020204" pitchFamily="34" charset="0"/>
              </a:rPr>
              <a:t>Accuracy: </a:t>
            </a:r>
            <a:r>
              <a:rPr lang="en-US" sz="2800" dirty="0">
                <a:latin typeface="Open Sans" panose="020B0606030504020204" pitchFamily="34" charset="0"/>
                <a:ea typeface="Open Sans" panose="020B0606030504020204" pitchFamily="34" charset="0"/>
                <a:cs typeface="Open Sans" panose="020B0606030504020204" pitchFamily="34" charset="0"/>
              </a:rPr>
              <a:t>Indicates the proportion of correctly classified </a:t>
            </a:r>
            <a:r>
              <a:rPr lang="en-US" sz="2800">
                <a:latin typeface="Open Sans" panose="020B0606030504020204" pitchFamily="34" charset="0"/>
                <a:ea typeface="Open Sans" panose="020B0606030504020204" pitchFamily="34" charset="0"/>
                <a:cs typeface="Open Sans" panose="020B0606030504020204" pitchFamily="34" charset="0"/>
              </a:rPr>
              <a:t>hate speech.</a:t>
            </a:r>
            <a:endParaRPr lang="en-US" sz="2800" dirty="0">
              <a:latin typeface="Open Sans" panose="020B0606030504020204" pitchFamily="34" charset="0"/>
              <a:ea typeface="Open Sans" panose="020B0606030504020204" pitchFamily="34" charset="0"/>
              <a:cs typeface="Open Sans" panose="020B0606030504020204" pitchFamily="34" charset="0"/>
            </a:endParaRP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r>
              <a:rPr lang="en-US" sz="2800" b="1" dirty="0">
                <a:latin typeface="Open Sans" panose="020B0606030504020204" pitchFamily="34" charset="0"/>
                <a:ea typeface="Open Sans" panose="020B0606030504020204" pitchFamily="34" charset="0"/>
                <a:cs typeface="Open Sans" panose="020B0606030504020204" pitchFamily="34" charset="0"/>
              </a:rPr>
              <a:t>Precision: </a:t>
            </a:r>
            <a:r>
              <a:rPr lang="en-US" sz="2800" dirty="0">
                <a:latin typeface="Open Sans" panose="020B0606030504020204" pitchFamily="34" charset="0"/>
                <a:ea typeface="Open Sans" panose="020B0606030504020204" pitchFamily="34" charset="0"/>
                <a:cs typeface="Open Sans" panose="020B0606030504020204" pitchFamily="34" charset="0"/>
              </a:rPr>
              <a:t>Reflects the model's effectiveness in accurately detecting hate speech</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r>
              <a:rPr lang="en-US" sz="2800" b="1" dirty="0">
                <a:latin typeface="Open Sans" panose="020B0606030504020204" pitchFamily="34" charset="0"/>
                <a:ea typeface="Open Sans" panose="020B0606030504020204" pitchFamily="34" charset="0"/>
                <a:cs typeface="Open Sans" panose="020B0606030504020204" pitchFamily="34" charset="0"/>
              </a:rPr>
              <a:t>Recall: </a:t>
            </a:r>
            <a:r>
              <a:rPr lang="en-US" sz="2800" dirty="0">
                <a:latin typeface="Open Sans" panose="020B0606030504020204" pitchFamily="34" charset="0"/>
                <a:ea typeface="Open Sans" panose="020B0606030504020204" pitchFamily="34" charset="0"/>
                <a:cs typeface="Open Sans" panose="020B0606030504020204" pitchFamily="34" charset="0"/>
              </a:rPr>
              <a:t>Measures the model’s capability to capture all instances of hate speech.</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r>
              <a:rPr lang="en-US" sz="2800" b="1" dirty="0">
                <a:latin typeface="Open Sans" panose="020B0606030504020204" pitchFamily="34" charset="0"/>
                <a:ea typeface="Open Sans" panose="020B0606030504020204" pitchFamily="34" charset="0"/>
                <a:cs typeface="Open Sans" panose="020B0606030504020204" pitchFamily="34" charset="0"/>
              </a:rPr>
              <a:t>F1-Score: </a:t>
            </a:r>
            <a:r>
              <a:rPr lang="en-US" sz="2800" dirty="0">
                <a:latin typeface="Open Sans" panose="020B0606030504020204" pitchFamily="34" charset="0"/>
                <a:ea typeface="Open Sans" panose="020B0606030504020204" pitchFamily="34" charset="0"/>
                <a:cs typeface="Open Sans" panose="020B0606030504020204" pitchFamily="34" charset="0"/>
              </a:rPr>
              <a:t>Serves as a harmonic mean, balancing precision and recall.</a:t>
            </a:r>
          </a:p>
          <a:p>
            <a:pPr marL="0" lvl="0" indent="0" algn="l">
              <a:lnSpc>
                <a:spcPts val="3739"/>
              </a:lnSpc>
            </a:pPr>
            <a:endParaRPr lang="en-US" sz="2800" b="1" dirty="0">
              <a:solidFill>
                <a:srgbClr val="272727"/>
              </a:solidFill>
              <a:latin typeface="Open Sans" panose="020B0606030504020204" pitchFamily="34" charset="0"/>
              <a:ea typeface="Open Sans" panose="020B0606030504020204" pitchFamily="34" charset="0"/>
              <a:cs typeface="Open Sans" panose="020B0606030504020204" pitchFamily="34" charset="0"/>
              <a:sym typeface="Open Sans Bold"/>
            </a:endParaRPr>
          </a:p>
        </p:txBody>
      </p:sp>
    </p:spTree>
    <p:extLst>
      <p:ext uri="{BB962C8B-B14F-4D97-AF65-F5344CB8AC3E}">
        <p14:creationId xmlns:p14="http://schemas.microsoft.com/office/powerpoint/2010/main" val="1074834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B8C69506-E1A1-0165-DE1B-FAFE638D2DA5}"/>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339F469D-0185-73C1-4B2B-16DAA0BF9421}"/>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193B9B94-A108-9D1A-143B-937DA56157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6" name="TextBox 16">
              <a:extLst>
                <a:ext uri="{FF2B5EF4-FFF2-40B4-BE49-F238E27FC236}">
                  <a16:creationId xmlns:a16="http://schemas.microsoft.com/office/drawing/2014/main" id="{A8336391-0B36-D648-07B2-048D87FC979C}"/>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57A16148-0AC8-C1AF-0103-934DF423612B}"/>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8">
            <a:extLst>
              <a:ext uri="{FF2B5EF4-FFF2-40B4-BE49-F238E27FC236}">
                <a16:creationId xmlns:a16="http://schemas.microsoft.com/office/drawing/2014/main" id="{719C421B-F39B-7447-6B04-609BAB808018}"/>
              </a:ext>
            </a:extLst>
          </p:cNvPr>
          <p:cNvSpPr txBox="1"/>
          <p:nvPr/>
        </p:nvSpPr>
        <p:spPr>
          <a:xfrm>
            <a:off x="1600200" y="836994"/>
            <a:ext cx="12230100" cy="11456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Result Analysis</a:t>
            </a:r>
          </a:p>
        </p:txBody>
      </p:sp>
      <p:pic>
        <p:nvPicPr>
          <p:cNvPr id="3" name="Picture 2">
            <a:extLst>
              <a:ext uri="{FF2B5EF4-FFF2-40B4-BE49-F238E27FC236}">
                <a16:creationId xmlns:a16="http://schemas.microsoft.com/office/drawing/2014/main" id="{BD3EFB1C-6071-B00B-BDA0-9E3C79948A86}"/>
              </a:ext>
            </a:extLst>
          </p:cNvPr>
          <p:cNvPicPr>
            <a:picLocks noChangeAspect="1"/>
          </p:cNvPicPr>
          <p:nvPr/>
        </p:nvPicPr>
        <p:blipFill>
          <a:blip r:embed="rId5"/>
          <a:stretch>
            <a:fillRect/>
          </a:stretch>
        </p:blipFill>
        <p:spPr>
          <a:xfrm>
            <a:off x="1534811" y="3501010"/>
            <a:ext cx="14471225" cy="3744303"/>
          </a:xfrm>
          <a:prstGeom prst="rect">
            <a:avLst/>
          </a:prstGeom>
        </p:spPr>
      </p:pic>
      <p:sp>
        <p:nvSpPr>
          <p:cNvPr id="8" name="TextBox 24">
            <a:extLst>
              <a:ext uri="{FF2B5EF4-FFF2-40B4-BE49-F238E27FC236}">
                <a16:creationId xmlns:a16="http://schemas.microsoft.com/office/drawing/2014/main" id="{1105DC83-6BF9-F89D-F20B-A18AD1189400}"/>
              </a:ext>
            </a:extLst>
          </p:cNvPr>
          <p:cNvSpPr txBox="1"/>
          <p:nvPr/>
        </p:nvSpPr>
        <p:spPr>
          <a:xfrm>
            <a:off x="1630680" y="2593103"/>
            <a:ext cx="10104120" cy="448584"/>
          </a:xfrm>
          <a:prstGeom prst="rect">
            <a:avLst/>
          </a:prstGeom>
        </p:spPr>
        <p:txBody>
          <a:bodyPr wrap="square" lIns="0" tIns="0" rIns="0" bIns="0" rtlCol="0" anchor="t">
            <a:spAutoFit/>
          </a:bodyPr>
          <a:lstStyle/>
          <a:p>
            <a:pPr marL="0" lvl="0" indent="0" algn="l">
              <a:lnSpc>
                <a:spcPts val="3739"/>
              </a:lnSpc>
            </a:pPr>
            <a:r>
              <a:rPr lang="en-US" sz="2800" b="1" dirty="0">
                <a:solidFill>
                  <a:srgbClr val="272727"/>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Bold"/>
              </a:rPr>
              <a:t>Machine Learning model performance comparison :</a:t>
            </a:r>
          </a:p>
        </p:txBody>
      </p:sp>
    </p:spTree>
    <p:extLst>
      <p:ext uri="{BB962C8B-B14F-4D97-AF65-F5344CB8AC3E}">
        <p14:creationId xmlns:p14="http://schemas.microsoft.com/office/powerpoint/2010/main" val="2414072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F8827BE7-8894-6535-53ED-551EE0A19A43}"/>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D1AC49DD-37B6-348E-4A58-F8328917239F}"/>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023E1A3E-8F2C-5590-07BF-330D24E3EC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6" name="TextBox 16">
              <a:extLst>
                <a:ext uri="{FF2B5EF4-FFF2-40B4-BE49-F238E27FC236}">
                  <a16:creationId xmlns:a16="http://schemas.microsoft.com/office/drawing/2014/main" id="{D1907CA9-3118-D7F1-6B71-881F7D866C4D}"/>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E7AA423E-F449-C3AC-6294-6DF4165F1EB3}"/>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8">
            <a:extLst>
              <a:ext uri="{FF2B5EF4-FFF2-40B4-BE49-F238E27FC236}">
                <a16:creationId xmlns:a16="http://schemas.microsoft.com/office/drawing/2014/main" id="{518E5D8E-4712-1400-B640-DAC39B874C03}"/>
              </a:ext>
            </a:extLst>
          </p:cNvPr>
          <p:cNvSpPr txBox="1"/>
          <p:nvPr/>
        </p:nvSpPr>
        <p:spPr>
          <a:xfrm>
            <a:off x="2094380" y="1154819"/>
            <a:ext cx="12230100" cy="1225335"/>
          </a:xfrm>
          <a:prstGeom prst="rect">
            <a:avLst/>
          </a:prstGeom>
        </p:spPr>
        <p:txBody>
          <a:bodyPr wrap="square" lIns="0" tIns="0" rIns="0" bIns="0" rtlCol="0" anchor="t">
            <a:spAutoFit/>
          </a:bodyPr>
          <a:lstStyle/>
          <a:p>
            <a:pPr algn="l">
              <a:lnSpc>
                <a:spcPts val="10080"/>
              </a:lnSpc>
            </a:pPr>
            <a:r>
              <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rPr>
              <a:t>Result</a:t>
            </a:r>
            <a:r>
              <a:rPr lang="en-US" sz="6000" dirty="0">
                <a:solidFill>
                  <a:srgbClr val="272727"/>
                </a:solidFill>
                <a:latin typeface="League Spartan"/>
                <a:ea typeface="League Spartan"/>
                <a:cs typeface="League Spartan"/>
                <a:sym typeface="League Spartan"/>
              </a:rPr>
              <a:t> Analysis</a:t>
            </a:r>
          </a:p>
        </p:txBody>
      </p:sp>
      <p:sp>
        <p:nvSpPr>
          <p:cNvPr id="9" name="TextBox 24">
            <a:extLst>
              <a:ext uri="{FF2B5EF4-FFF2-40B4-BE49-F238E27FC236}">
                <a16:creationId xmlns:a16="http://schemas.microsoft.com/office/drawing/2014/main" id="{DD9B9014-BF21-EF9D-46B5-DF1A91DA6AF5}"/>
              </a:ext>
            </a:extLst>
          </p:cNvPr>
          <p:cNvSpPr txBox="1"/>
          <p:nvPr/>
        </p:nvSpPr>
        <p:spPr>
          <a:xfrm>
            <a:off x="2094380" y="2855545"/>
            <a:ext cx="11012020" cy="924997"/>
          </a:xfrm>
          <a:prstGeom prst="rect">
            <a:avLst/>
          </a:prstGeom>
        </p:spPr>
        <p:txBody>
          <a:bodyPr wrap="square" lIns="0" tIns="0" rIns="0" bIns="0" rtlCol="0" anchor="t">
            <a:spAutoFit/>
          </a:bodyPr>
          <a:lstStyle/>
          <a:p>
            <a:pPr>
              <a:lnSpc>
                <a:spcPts val="3739"/>
              </a:lnSpc>
            </a:pPr>
            <a:r>
              <a:rPr lang="en-US" sz="2800" b="1" dirty="0">
                <a:solidFill>
                  <a:srgbClr val="272727"/>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Bold"/>
              </a:rPr>
              <a:t>Transformer</a:t>
            </a:r>
            <a:r>
              <a:rPr lang="en-US" sz="2800" b="1" dirty="0">
                <a:solidFill>
                  <a:srgbClr val="272727"/>
                </a:solidFill>
                <a:latin typeface="Open Sans" panose="020B0606030504020204" pitchFamily="34" charset="0"/>
                <a:ea typeface="Open Sans" panose="020B0606030504020204" pitchFamily="34" charset="0"/>
                <a:cs typeface="Open Sans" panose="020B0606030504020204" pitchFamily="34" charset="0"/>
                <a:sym typeface="Open Sans Bold"/>
              </a:rPr>
              <a:t> Based Models Performance Comparison :</a:t>
            </a:r>
          </a:p>
          <a:p>
            <a:pPr marL="0" lvl="0" indent="0" algn="l">
              <a:lnSpc>
                <a:spcPts val="3739"/>
              </a:lnSpc>
            </a:pPr>
            <a:endParaRPr lang="en-US" sz="2800" b="1" dirty="0">
              <a:solidFill>
                <a:srgbClr val="272727"/>
              </a:solidFill>
              <a:latin typeface="Open Sans" panose="020B0606030504020204" pitchFamily="34" charset="0"/>
              <a:ea typeface="Open Sans" panose="020B0606030504020204" pitchFamily="34" charset="0"/>
              <a:cs typeface="Open Sans" panose="020B0606030504020204" pitchFamily="34" charset="0"/>
              <a:sym typeface="Open Sans Bold"/>
            </a:endParaRPr>
          </a:p>
        </p:txBody>
      </p:sp>
      <p:pic>
        <p:nvPicPr>
          <p:cNvPr id="11" name="Picture 10">
            <a:extLst>
              <a:ext uri="{FF2B5EF4-FFF2-40B4-BE49-F238E27FC236}">
                <a16:creationId xmlns:a16="http://schemas.microsoft.com/office/drawing/2014/main" id="{E6E41914-74A4-5B15-632D-E036EABE1EEA}"/>
              </a:ext>
            </a:extLst>
          </p:cNvPr>
          <p:cNvPicPr>
            <a:picLocks noChangeAspect="1"/>
          </p:cNvPicPr>
          <p:nvPr/>
        </p:nvPicPr>
        <p:blipFill>
          <a:blip r:embed="rId5"/>
          <a:stretch>
            <a:fillRect/>
          </a:stretch>
        </p:blipFill>
        <p:spPr>
          <a:xfrm>
            <a:off x="1752601" y="3837506"/>
            <a:ext cx="14706600" cy="3315360"/>
          </a:xfrm>
          <a:prstGeom prst="rect">
            <a:avLst/>
          </a:prstGeom>
        </p:spPr>
      </p:pic>
    </p:spTree>
    <p:extLst>
      <p:ext uri="{BB962C8B-B14F-4D97-AF65-F5344CB8AC3E}">
        <p14:creationId xmlns:p14="http://schemas.microsoft.com/office/powerpoint/2010/main" val="4085315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B3C49-09E1-ACAD-2E96-3225CFE9A89B}"/>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A426B936-3212-3846-76CB-154B26D8B949}"/>
              </a:ext>
            </a:extLst>
          </p:cNvPr>
          <p:cNvGrpSpPr/>
          <p:nvPr/>
        </p:nvGrpSpPr>
        <p:grpSpPr>
          <a:xfrm>
            <a:off x="-717638" y="7715250"/>
            <a:ext cx="3086100" cy="3086100"/>
            <a:chOff x="0" y="0"/>
            <a:chExt cx="812800" cy="812800"/>
          </a:xfrm>
        </p:grpSpPr>
        <p:sp>
          <p:nvSpPr>
            <p:cNvPr id="15" name="Freeform 15">
              <a:extLst>
                <a:ext uri="{FF2B5EF4-FFF2-40B4-BE49-F238E27FC236}">
                  <a16:creationId xmlns:a16="http://schemas.microsoft.com/office/drawing/2014/main" id="{DC673A2D-A592-84D6-094C-A2A696FB248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6" name="TextBox 16">
              <a:extLst>
                <a:ext uri="{FF2B5EF4-FFF2-40B4-BE49-F238E27FC236}">
                  <a16:creationId xmlns:a16="http://schemas.microsoft.com/office/drawing/2014/main" id="{0887EDB4-5EA2-4D11-778F-5EE660986AD2}"/>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7" name="Freeform 17">
            <a:extLst>
              <a:ext uri="{FF2B5EF4-FFF2-40B4-BE49-F238E27FC236}">
                <a16:creationId xmlns:a16="http://schemas.microsoft.com/office/drawing/2014/main" id="{74728C5B-DB9B-6839-EEF9-6148202A3C10}"/>
              </a:ext>
            </a:extLst>
          </p:cNvPr>
          <p:cNvSpPr/>
          <p:nvPr/>
        </p:nvSpPr>
        <p:spPr>
          <a:xfrm>
            <a:off x="513120" y="3538191"/>
            <a:ext cx="5062925" cy="6212178"/>
          </a:xfrm>
          <a:custGeom>
            <a:avLst/>
            <a:gdLst/>
            <a:ahLst/>
            <a:cxnLst/>
            <a:rect l="l" t="t" r="r" b="b"/>
            <a:pathLst>
              <a:path w="5062925" h="6212178">
                <a:moveTo>
                  <a:pt x="0" y="0"/>
                </a:moveTo>
                <a:lnTo>
                  <a:pt x="5062925" y="0"/>
                </a:lnTo>
                <a:lnTo>
                  <a:pt x="5062925" y="6212179"/>
                </a:lnTo>
                <a:lnTo>
                  <a:pt x="0" y="62121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TextBox 18">
            <a:extLst>
              <a:ext uri="{FF2B5EF4-FFF2-40B4-BE49-F238E27FC236}">
                <a16:creationId xmlns:a16="http://schemas.microsoft.com/office/drawing/2014/main" id="{C9547569-6A63-9E81-5FED-E3D3DE735E99}"/>
              </a:ext>
            </a:extLst>
          </p:cNvPr>
          <p:cNvSpPr txBox="1"/>
          <p:nvPr/>
        </p:nvSpPr>
        <p:spPr>
          <a:xfrm>
            <a:off x="2109620" y="1112883"/>
            <a:ext cx="12230100" cy="2497479"/>
          </a:xfrm>
          <a:prstGeom prst="rect">
            <a:avLst/>
          </a:prstGeom>
        </p:spPr>
        <p:txBody>
          <a:bodyPr wrap="square" lIns="0" tIns="0" rIns="0" bIns="0" rtlCol="0" anchor="t">
            <a:spAutoFit/>
          </a:bodyPr>
          <a:lstStyle/>
          <a:p>
            <a:pPr>
              <a:lnSpc>
                <a:spcPts val="10080"/>
              </a:lnSpc>
            </a:pPr>
            <a:r>
              <a:rPr lang="en-US" sz="6000" b="1" dirty="0">
                <a:solidFill>
                  <a:srgbClr val="000000"/>
                </a:solidFill>
                <a:latin typeface="Segoe UI Black" panose="020B0A02040204020203" pitchFamily="34" charset="0"/>
                <a:ea typeface="Segoe UI Black" panose="020B0A02040204020203" pitchFamily="34" charset="0"/>
                <a:cs typeface="Poppins Bold"/>
                <a:sym typeface="Poppins Bold"/>
              </a:rPr>
              <a:t>Challenges and Limitations:</a:t>
            </a:r>
          </a:p>
          <a:p>
            <a:pPr algn="l">
              <a:lnSpc>
                <a:spcPts val="10080"/>
              </a:lnSpc>
            </a:pPr>
            <a:endParaRPr lang="en-US" sz="6000" dirty="0">
              <a:solidFill>
                <a:srgbClr val="272727"/>
              </a:solidFill>
              <a:latin typeface="Segoe UI Black" panose="020B0A02040204020203" pitchFamily="34" charset="0"/>
              <a:ea typeface="Segoe UI Black" panose="020B0A02040204020203" pitchFamily="34" charset="0"/>
              <a:cs typeface="League Spartan"/>
              <a:sym typeface="League Spartan"/>
            </a:endParaRPr>
          </a:p>
        </p:txBody>
      </p:sp>
      <p:sp>
        <p:nvSpPr>
          <p:cNvPr id="2" name="TextBox 1">
            <a:extLst>
              <a:ext uri="{FF2B5EF4-FFF2-40B4-BE49-F238E27FC236}">
                <a16:creationId xmlns:a16="http://schemas.microsoft.com/office/drawing/2014/main" id="{AC59660C-E239-E072-D3D7-4099155F952D}"/>
              </a:ext>
            </a:extLst>
          </p:cNvPr>
          <p:cNvSpPr txBox="1"/>
          <p:nvPr/>
        </p:nvSpPr>
        <p:spPr>
          <a:xfrm>
            <a:off x="2623970" y="3009900"/>
            <a:ext cx="13835230" cy="3970318"/>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Data Imbalance</a:t>
            </a:r>
            <a:r>
              <a:rPr lang="en-US" sz="2800" dirty="0">
                <a:latin typeface="Open Sans" panose="020B0606030504020204" pitchFamily="34" charset="0"/>
                <a:ea typeface="Open Sans" panose="020B0606030504020204" pitchFamily="34" charset="0"/>
                <a:cs typeface="Open Sans" panose="020B0606030504020204" pitchFamily="34" charset="0"/>
              </a:rPr>
              <a:t>: More "no hate" than "hate" samples affect model accuracy.</a:t>
            </a:r>
          </a:p>
          <a:p>
            <a:pPr marL="457200" indent="-457200">
              <a:buFont typeface="Arial" panose="020B0604020202020204" pitchFamily="34" charset="0"/>
              <a:buChar char="•"/>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Language Complexity</a:t>
            </a:r>
            <a:r>
              <a:rPr lang="en-US" sz="2800" dirty="0">
                <a:latin typeface="Open Sans" panose="020B0606030504020204" pitchFamily="34" charset="0"/>
                <a:ea typeface="Open Sans" panose="020B0606030504020204" pitchFamily="34" charset="0"/>
                <a:cs typeface="Open Sans" panose="020B0606030504020204" pitchFamily="34" charset="0"/>
              </a:rPr>
              <a:t>: Slang, sarcasm, and cultural nuances make detection difficult.</a:t>
            </a:r>
          </a:p>
          <a:p>
            <a:pPr marL="457200" indent="-457200">
              <a:buFont typeface="Arial" panose="020B0604020202020204" pitchFamily="34" charset="0"/>
              <a:buChar char="•"/>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Computational Cost</a:t>
            </a:r>
            <a:r>
              <a:rPr lang="en-US" sz="2800" dirty="0">
                <a:latin typeface="Open Sans" panose="020B0606030504020204" pitchFamily="34" charset="0"/>
                <a:ea typeface="Open Sans" panose="020B0606030504020204" pitchFamily="34" charset="0"/>
                <a:cs typeface="Open Sans" panose="020B0606030504020204" pitchFamily="34" charset="0"/>
              </a:rPr>
              <a:t>: Transformer models require high processing power.</a:t>
            </a:r>
          </a:p>
          <a:p>
            <a:endParaRPr lang="en-US" sz="2800" dirty="0">
              <a:latin typeface="Open Sans" panose="020B0606030504020204" pitchFamily="34" charset="0"/>
              <a:ea typeface="Open Sans" panose="020B0606030504020204" pitchFamily="34" charset="0"/>
              <a:cs typeface="Open Sans" panose="020B0606030504020204" pitchFamily="34" charset="0"/>
            </a:endParaRPr>
          </a:p>
          <a:p>
            <a:pPr marL="457200" indent="-457200">
              <a:buFont typeface="Arial" panose="020B0604020202020204" pitchFamily="34" charset="0"/>
              <a:buChar char="•"/>
            </a:pPr>
            <a:r>
              <a:rPr lang="en-US" sz="2800" b="1" dirty="0">
                <a:latin typeface="Open Sans" panose="020B0606030504020204" pitchFamily="34" charset="0"/>
                <a:ea typeface="Open Sans" panose="020B0606030504020204" pitchFamily="34" charset="0"/>
                <a:cs typeface="Open Sans" panose="020B0606030504020204" pitchFamily="34" charset="0"/>
              </a:rPr>
              <a:t>ML Model Limitation</a:t>
            </a:r>
            <a:r>
              <a:rPr lang="en-US" sz="2800" dirty="0">
                <a:latin typeface="Open Sans" panose="020B0606030504020204" pitchFamily="34" charset="0"/>
                <a:ea typeface="Open Sans" panose="020B0606030504020204" pitchFamily="34" charset="0"/>
                <a:cs typeface="Open Sans" panose="020B0606030504020204" pitchFamily="34" charset="0"/>
              </a:rPr>
              <a:t>: Traditional ML models struggle to detect the minority class (hate speech).</a:t>
            </a:r>
          </a:p>
        </p:txBody>
      </p:sp>
    </p:spTree>
    <p:extLst>
      <p:ext uri="{BB962C8B-B14F-4D97-AF65-F5344CB8AC3E}">
        <p14:creationId xmlns:p14="http://schemas.microsoft.com/office/powerpoint/2010/main" val="2876890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70" name="TextBox 70"/>
          <p:cNvSpPr txBox="1"/>
          <p:nvPr/>
        </p:nvSpPr>
        <p:spPr>
          <a:xfrm>
            <a:off x="3581400" y="1409700"/>
            <a:ext cx="10812532" cy="1226820"/>
          </a:xfrm>
          <a:prstGeom prst="rect">
            <a:avLst/>
          </a:prstGeom>
        </p:spPr>
        <p:txBody>
          <a:bodyPr lIns="0" tIns="0" rIns="0" bIns="0" rtlCol="0" anchor="t">
            <a:spAutoFit/>
          </a:bodyPr>
          <a:lstStyle/>
          <a:p>
            <a:pPr marL="0" lvl="0" indent="0" algn="ctr">
              <a:lnSpc>
                <a:spcPts val="10080"/>
              </a:lnSpc>
              <a:spcBef>
                <a:spcPct val="0"/>
              </a:spcBef>
            </a:pPr>
            <a:r>
              <a:rPr lang="en-US" sz="7200" b="1" dirty="0">
                <a:solidFill>
                  <a:srgbClr val="272727"/>
                </a:solidFill>
                <a:latin typeface="Segoe UI Black" panose="020B0A02040204020203" pitchFamily="34" charset="0"/>
                <a:ea typeface="Segoe UI Black" panose="020B0A02040204020203" pitchFamily="34" charset="0"/>
                <a:cs typeface="Open Sans Bold"/>
                <a:sym typeface="Open Sans Bold"/>
              </a:rPr>
              <a:t>Conclusion</a:t>
            </a:r>
          </a:p>
        </p:txBody>
      </p:sp>
      <p:sp>
        <p:nvSpPr>
          <p:cNvPr id="80" name="TextBox 79">
            <a:extLst>
              <a:ext uri="{FF2B5EF4-FFF2-40B4-BE49-F238E27FC236}">
                <a16:creationId xmlns:a16="http://schemas.microsoft.com/office/drawing/2014/main" id="{DA4B8E16-A577-DC92-D0EE-C42DCE040F4E}"/>
              </a:ext>
            </a:extLst>
          </p:cNvPr>
          <p:cNvSpPr txBox="1"/>
          <p:nvPr/>
        </p:nvSpPr>
        <p:spPr>
          <a:xfrm>
            <a:off x="4411732" y="3314700"/>
            <a:ext cx="9982200" cy="2900089"/>
          </a:xfrm>
          <a:prstGeom prst="rect">
            <a:avLst/>
          </a:prstGeom>
          <a:noFill/>
        </p:spPr>
        <p:txBody>
          <a:bodyPr wrap="square">
            <a:spAutoFit/>
          </a:bodyPr>
          <a:lstStyle/>
          <a:p>
            <a:pPr marL="0" lvl="0" indent="0" algn="l">
              <a:lnSpc>
                <a:spcPts val="3739"/>
              </a:lnSpc>
            </a:pPr>
            <a:r>
              <a:rPr lang="en-US" sz="2400" dirty="0">
                <a:latin typeface="Open Sans" panose="020B0606030504020204" pitchFamily="34" charset="0"/>
                <a:ea typeface="Open Sans" panose="020B0606030504020204" pitchFamily="34" charset="0"/>
                <a:cs typeface="Open Sans" panose="020B0606030504020204" pitchFamily="34" charset="0"/>
              </a:rPr>
              <a:t>Our research shows that transformer-based models, particularly BanglaBERT, are more effective than traditional machine learning models for Bengali hate speech detection. Future work will focus on expanding the dataset, improving model performance, and exploring advanced techniques like combining transformers with deep learning models.</a:t>
            </a:r>
            <a:endParaRPr lang="en-US" sz="2400" dirty="0">
              <a:solidFill>
                <a:srgbClr val="272727"/>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
        <p:nvSpPr>
          <p:cNvPr id="83" name="AutoShape 10">
            <a:extLst>
              <a:ext uri="{FF2B5EF4-FFF2-40B4-BE49-F238E27FC236}">
                <a16:creationId xmlns:a16="http://schemas.microsoft.com/office/drawing/2014/main" id="{42CE552C-E7BF-823D-E78C-54C131A70A05}"/>
              </a:ext>
            </a:extLst>
          </p:cNvPr>
          <p:cNvSpPr/>
          <p:nvPr/>
        </p:nvSpPr>
        <p:spPr>
          <a:xfrm flipV="1">
            <a:off x="5257800" y="2674620"/>
            <a:ext cx="7924800" cy="35560"/>
          </a:xfrm>
          <a:prstGeom prst="line">
            <a:avLst/>
          </a:prstGeom>
          <a:ln w="19050" cap="flat">
            <a:solidFill>
              <a:srgbClr val="7C7C7C"/>
            </a:solidFill>
            <a:prstDash val="solid"/>
            <a:headEnd type="none" w="sm" len="sm"/>
            <a:tailEnd type="none" w="sm" len="sm"/>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2954657" y="4400273"/>
            <a:ext cx="12378687" cy="1964512"/>
          </a:xfrm>
          <a:prstGeom prst="rect">
            <a:avLst/>
          </a:prstGeom>
        </p:spPr>
        <p:txBody>
          <a:bodyPr lIns="0" tIns="0" rIns="0" bIns="0" rtlCol="0" anchor="t">
            <a:spAutoFit/>
          </a:bodyPr>
          <a:lstStyle/>
          <a:p>
            <a:pPr marL="0" lvl="0" indent="0" algn="ctr">
              <a:lnSpc>
                <a:spcPts val="16810"/>
              </a:lnSpc>
            </a:pPr>
            <a:r>
              <a:rPr lang="en-US" sz="12007" dirty="0">
                <a:solidFill>
                  <a:srgbClr val="2159FF"/>
                </a:solidFill>
                <a:latin typeface="Segoe UI Black" panose="020B0A02040204020203" pitchFamily="34" charset="0"/>
                <a:ea typeface="Segoe UI Black" panose="020B0A02040204020203" pitchFamily="34" charset="0"/>
                <a:cs typeface="League Spartan"/>
                <a:sym typeface="League Spartan"/>
              </a:rPr>
              <a:t>Thank You</a:t>
            </a:r>
          </a:p>
        </p:txBody>
      </p:sp>
      <p:sp>
        <p:nvSpPr>
          <p:cNvPr id="6" name="Freeform 6"/>
          <p:cNvSpPr/>
          <p:nvPr/>
        </p:nvSpPr>
        <p:spPr>
          <a:xfrm flipH="1" flipV="1">
            <a:off x="12755300" y="567698"/>
            <a:ext cx="5062925" cy="6212178"/>
          </a:xfrm>
          <a:custGeom>
            <a:avLst/>
            <a:gdLst/>
            <a:ahLst/>
            <a:cxnLst/>
            <a:rect l="l" t="t" r="r" b="b"/>
            <a:pathLst>
              <a:path w="5062925" h="6212178">
                <a:moveTo>
                  <a:pt x="5062925" y="6212178"/>
                </a:moveTo>
                <a:lnTo>
                  <a:pt x="0" y="6212178"/>
                </a:lnTo>
                <a:lnTo>
                  <a:pt x="0" y="0"/>
                </a:lnTo>
                <a:lnTo>
                  <a:pt x="5062925" y="0"/>
                </a:lnTo>
                <a:lnTo>
                  <a:pt x="5062925" y="6212178"/>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0" y="8657159"/>
            <a:ext cx="4953776" cy="1620297"/>
          </a:xfrm>
          <a:custGeom>
            <a:avLst/>
            <a:gdLst/>
            <a:ahLst/>
            <a:cxnLst/>
            <a:rect l="l" t="t" r="r" b="b"/>
            <a:pathLst>
              <a:path w="4953776" h="1620297">
                <a:moveTo>
                  <a:pt x="0" y="0"/>
                </a:moveTo>
                <a:lnTo>
                  <a:pt x="4953776" y="0"/>
                </a:lnTo>
                <a:lnTo>
                  <a:pt x="4953776" y="1620297"/>
                </a:lnTo>
                <a:lnTo>
                  <a:pt x="0" y="16202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15891973" y="7924258"/>
            <a:ext cx="3086100" cy="308610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91D3A"/>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grpSp>
        <p:nvGrpSpPr>
          <p:cNvPr id="11" name="Group 11"/>
          <p:cNvGrpSpPr/>
          <p:nvPr/>
        </p:nvGrpSpPr>
        <p:grpSpPr>
          <a:xfrm>
            <a:off x="-560090" y="-449186"/>
            <a:ext cx="3873733" cy="387373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D5FF"/>
            </a:soli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TotalTime>
  <Words>747</Words>
  <Application>Microsoft Office PowerPoint</Application>
  <PresentationFormat>Custom</PresentationFormat>
  <Paragraphs>113</Paragraphs>
  <Slides>16</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Open Sans Bold</vt:lpstr>
      <vt:lpstr>Open Sans Extrabold</vt:lpstr>
      <vt:lpstr>Segoe UI Black</vt:lpstr>
      <vt:lpstr>Calibri</vt:lpstr>
      <vt:lpstr>League Spartan</vt:lpstr>
      <vt:lpstr>Poppins</vt:lpstr>
      <vt:lpstr>Poppins Bold</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Modern Product Research Proposal Presentation</dc:title>
  <dc:creator>Sanjana Akhter</dc:creator>
  <cp:lastModifiedBy>Student</cp:lastModifiedBy>
  <cp:revision>35</cp:revision>
  <dcterms:created xsi:type="dcterms:W3CDTF">2006-08-16T00:00:00Z</dcterms:created>
  <dcterms:modified xsi:type="dcterms:W3CDTF">2025-03-11T03:55:33Z</dcterms:modified>
  <dc:identifier>DAGhVvk87TY</dc:identifier>
</cp:coreProperties>
</file>